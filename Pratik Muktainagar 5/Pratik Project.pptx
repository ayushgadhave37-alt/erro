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Inter Bold" charset="1" panose="020B0802030000000004"/>
      <p:regular r:id="rId15"/>
    </p:embeddedFont>
    <p:embeddedFont>
      <p:font typeface="Inter" charset="1" panose="020B0502030000000004"/>
      <p:regular r:id="rId16"/>
    </p:embeddedFont>
    <p:embeddedFont>
      <p:font typeface="Inter Medium" charset="1" panose="02000503000000020004"/>
      <p:regular r:id="rId17"/>
    </p:embeddedFont>
    <p:embeddedFont>
      <p:font typeface="Inter Ultra-Bold" charset="1" panose="02000503000000020004"/>
      <p:regular r:id="rId18"/>
    </p:embeddedFont>
    <p:embeddedFont>
      <p:font typeface="Inter Semi-Bold" charset="1" panose="0200050300000002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12" Target="../media/image15.png" Type="http://schemas.openxmlformats.org/officeDocument/2006/relationships/image"/><Relationship Id="rId13" Target="../media/image16.png" Type="http://schemas.openxmlformats.org/officeDocument/2006/relationships/image"/><Relationship Id="rId14" Target="../media/image17.pn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png" Type="http://schemas.openxmlformats.org/officeDocument/2006/relationships/image"/><Relationship Id="rId12" Target="../media/image28.png" Type="http://schemas.openxmlformats.org/officeDocument/2006/relationships/image"/><Relationship Id="rId13" Target="../media/image29.png" Type="http://schemas.openxmlformats.org/officeDocument/2006/relationships/image"/><Relationship Id="rId14" Target="../media/image30.png" Type="http://schemas.openxmlformats.org/officeDocument/2006/relationships/image"/><Relationship Id="rId15" Target="../media/image31.png" Type="http://schemas.openxmlformats.org/officeDocument/2006/relationships/image"/><Relationship Id="rId16" Target="../media/image32.png" Type="http://schemas.openxmlformats.org/officeDocument/2006/relationships/image"/><Relationship Id="rId17" Target="../media/image33.png" Type="http://schemas.openxmlformats.org/officeDocument/2006/relationships/image"/><Relationship Id="rId18" Target="../media/image34.png" Type="http://schemas.openxmlformats.org/officeDocument/2006/relationships/image"/><Relationship Id="rId19" Target="../media/image35.png" Type="http://schemas.openxmlformats.org/officeDocument/2006/relationships/image"/><Relationship Id="rId2" Target="../media/image18.png" Type="http://schemas.openxmlformats.org/officeDocument/2006/relationships/image"/><Relationship Id="rId20" Target="../media/image36.png" Type="http://schemas.openxmlformats.org/officeDocument/2006/relationships/image"/><Relationship Id="rId21" Target="../media/image37.png" Type="http://schemas.openxmlformats.org/officeDocument/2006/relationships/image"/><Relationship Id="rId22" Target="../media/image38.png" Type="http://schemas.openxmlformats.org/officeDocument/2006/relationships/image"/><Relationship Id="rId23" Target="../media/image39.png" Type="http://schemas.openxmlformats.org/officeDocument/2006/relationships/image"/><Relationship Id="rId24" Target="../media/image40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png" Type="http://schemas.openxmlformats.org/officeDocument/2006/relationships/image"/><Relationship Id="rId12" Target="../media/image51.png" Type="http://schemas.openxmlformats.org/officeDocument/2006/relationships/image"/><Relationship Id="rId13" Target="../media/image52.png" Type="http://schemas.openxmlformats.org/officeDocument/2006/relationships/image"/><Relationship Id="rId14" Target="../media/image53.png" Type="http://schemas.openxmlformats.org/officeDocument/2006/relationships/image"/><Relationship Id="rId15" Target="../media/image54.png" Type="http://schemas.openxmlformats.org/officeDocument/2006/relationships/image"/><Relationship Id="rId16" Target="../media/image55.png" Type="http://schemas.openxmlformats.org/officeDocument/2006/relationships/image"/><Relationship Id="rId17" Target="../media/image56.png" Type="http://schemas.openxmlformats.org/officeDocument/2006/relationships/image"/><Relationship Id="rId18" Target="../media/image57.png" Type="http://schemas.openxmlformats.org/officeDocument/2006/relationships/image"/><Relationship Id="rId19" Target="../media/image58.png" Type="http://schemas.openxmlformats.org/officeDocument/2006/relationships/image"/><Relationship Id="rId2" Target="../media/image41.png" Type="http://schemas.openxmlformats.org/officeDocument/2006/relationships/image"/><Relationship Id="rId20" Target="../media/image59.png" Type="http://schemas.openxmlformats.org/officeDocument/2006/relationships/image"/><Relationship Id="rId21" Target="../media/image60.png" Type="http://schemas.openxmlformats.org/officeDocument/2006/relationships/image"/><Relationship Id="rId22" Target="../media/image61.png" Type="http://schemas.openxmlformats.org/officeDocument/2006/relationships/image"/><Relationship Id="rId23" Target="../media/image62.png" Type="http://schemas.openxmlformats.org/officeDocument/2006/relationships/image"/><Relationship Id="rId24" Target="../media/image63.png" Type="http://schemas.openxmlformats.org/officeDocument/2006/relationships/image"/><Relationship Id="rId25" Target="../media/image64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47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png" Type="http://schemas.openxmlformats.org/officeDocument/2006/relationships/image"/><Relationship Id="rId11" Target="../media/image74.png" Type="http://schemas.openxmlformats.org/officeDocument/2006/relationships/image"/><Relationship Id="rId12" Target="../media/image75.png" Type="http://schemas.openxmlformats.org/officeDocument/2006/relationships/image"/><Relationship Id="rId13" Target="../media/image76.png" Type="http://schemas.openxmlformats.org/officeDocument/2006/relationships/image"/><Relationship Id="rId14" Target="../media/image77.png" Type="http://schemas.openxmlformats.org/officeDocument/2006/relationships/image"/><Relationship Id="rId15" Target="../media/image78.png" Type="http://schemas.openxmlformats.org/officeDocument/2006/relationships/image"/><Relationship Id="rId16" Target="../media/image79.png" Type="http://schemas.openxmlformats.org/officeDocument/2006/relationships/image"/><Relationship Id="rId17" Target="../media/image80.png" Type="http://schemas.openxmlformats.org/officeDocument/2006/relationships/image"/><Relationship Id="rId18" Target="../media/image81.png" Type="http://schemas.openxmlformats.org/officeDocument/2006/relationships/image"/><Relationship Id="rId19" Target="../media/image82.png" Type="http://schemas.openxmlformats.org/officeDocument/2006/relationships/image"/><Relationship Id="rId2" Target="../media/image65.png" Type="http://schemas.openxmlformats.org/officeDocument/2006/relationships/image"/><Relationship Id="rId20" Target="../media/image83.png" Type="http://schemas.openxmlformats.org/officeDocument/2006/relationships/image"/><Relationship Id="rId21" Target="../media/image84.png" Type="http://schemas.openxmlformats.org/officeDocument/2006/relationships/image"/><Relationship Id="rId22" Target="../media/image85.png" Type="http://schemas.openxmlformats.org/officeDocument/2006/relationships/image"/><Relationship Id="rId23" Target="../media/image86.png" Type="http://schemas.openxmlformats.org/officeDocument/2006/relationships/image"/><Relationship Id="rId24" Target="../media/image87.png" Type="http://schemas.openxmlformats.org/officeDocument/2006/relationships/image"/><Relationship Id="rId25" Target="../media/image88.png" Type="http://schemas.openxmlformats.org/officeDocument/2006/relationships/image"/><Relationship Id="rId26" Target="../media/image89.png" Type="http://schemas.openxmlformats.org/officeDocument/2006/relationships/image"/><Relationship Id="rId27" Target="../media/image90.png" Type="http://schemas.openxmlformats.org/officeDocument/2006/relationships/image"/><Relationship Id="rId28" Target="../media/image91.png" Type="http://schemas.openxmlformats.org/officeDocument/2006/relationships/image"/><Relationship Id="rId29" Target="../media/image92.png" Type="http://schemas.openxmlformats.org/officeDocument/2006/relationships/image"/><Relationship Id="rId3" Target="../media/image66.png" Type="http://schemas.openxmlformats.org/officeDocument/2006/relationships/image"/><Relationship Id="rId4" Target="../media/image67.png" Type="http://schemas.openxmlformats.org/officeDocument/2006/relationships/image"/><Relationship Id="rId5" Target="../media/image68.png" Type="http://schemas.openxmlformats.org/officeDocument/2006/relationships/image"/><Relationship Id="rId6" Target="../media/image69.png" Type="http://schemas.openxmlformats.org/officeDocument/2006/relationships/image"/><Relationship Id="rId7" Target="../media/image70.png" Type="http://schemas.openxmlformats.org/officeDocument/2006/relationships/image"/><Relationship Id="rId8" Target="../media/image71.png" Type="http://schemas.openxmlformats.org/officeDocument/2006/relationships/image"/><Relationship Id="rId9" Target="../media/image7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3.png" Type="http://schemas.openxmlformats.org/officeDocument/2006/relationships/image"/><Relationship Id="rId3" Target="../media/image94.png" Type="http://schemas.openxmlformats.org/officeDocument/2006/relationships/image"/><Relationship Id="rId4" Target="../media/image95.png" Type="http://schemas.openxmlformats.org/officeDocument/2006/relationships/image"/><Relationship Id="rId5" Target="../media/image96.png" Type="http://schemas.openxmlformats.org/officeDocument/2006/relationships/image"/><Relationship Id="rId6" Target="../media/image97.png" Type="http://schemas.openxmlformats.org/officeDocument/2006/relationships/image"/><Relationship Id="rId7" Target="../media/image9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7.png" Type="http://schemas.openxmlformats.org/officeDocument/2006/relationships/image"/><Relationship Id="rId11" Target="../media/image108.png" Type="http://schemas.openxmlformats.org/officeDocument/2006/relationships/image"/><Relationship Id="rId12" Target="../media/image109.png" Type="http://schemas.openxmlformats.org/officeDocument/2006/relationships/image"/><Relationship Id="rId13" Target="../media/image110.png" Type="http://schemas.openxmlformats.org/officeDocument/2006/relationships/image"/><Relationship Id="rId14" Target="../media/image111.png" Type="http://schemas.openxmlformats.org/officeDocument/2006/relationships/image"/><Relationship Id="rId15" Target="../media/image112.png" Type="http://schemas.openxmlformats.org/officeDocument/2006/relationships/image"/><Relationship Id="rId16" Target="../media/image113.png" Type="http://schemas.openxmlformats.org/officeDocument/2006/relationships/image"/><Relationship Id="rId17" Target="../media/image114.png" Type="http://schemas.openxmlformats.org/officeDocument/2006/relationships/image"/><Relationship Id="rId18" Target="../media/image115.png" Type="http://schemas.openxmlformats.org/officeDocument/2006/relationships/image"/><Relationship Id="rId19" Target="../media/image116.png" Type="http://schemas.openxmlformats.org/officeDocument/2006/relationships/image"/><Relationship Id="rId2" Target="../media/image99.png" Type="http://schemas.openxmlformats.org/officeDocument/2006/relationships/image"/><Relationship Id="rId20" Target="../media/image117.png" Type="http://schemas.openxmlformats.org/officeDocument/2006/relationships/image"/><Relationship Id="rId21" Target="../media/image118.png" Type="http://schemas.openxmlformats.org/officeDocument/2006/relationships/image"/><Relationship Id="rId3" Target="../media/image100.png" Type="http://schemas.openxmlformats.org/officeDocument/2006/relationships/image"/><Relationship Id="rId4" Target="../media/image101.png" Type="http://schemas.openxmlformats.org/officeDocument/2006/relationships/image"/><Relationship Id="rId5" Target="../media/image102.png" Type="http://schemas.openxmlformats.org/officeDocument/2006/relationships/image"/><Relationship Id="rId6" Target="../media/image103.png" Type="http://schemas.openxmlformats.org/officeDocument/2006/relationships/image"/><Relationship Id="rId7" Target="../media/image104.png" Type="http://schemas.openxmlformats.org/officeDocument/2006/relationships/image"/><Relationship Id="rId8" Target="../media/image105.png" Type="http://schemas.openxmlformats.org/officeDocument/2006/relationships/image"/><Relationship Id="rId9" Target="../media/image10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7.png" Type="http://schemas.openxmlformats.org/officeDocument/2006/relationships/image"/><Relationship Id="rId11" Target="../media/image128.png" Type="http://schemas.openxmlformats.org/officeDocument/2006/relationships/image"/><Relationship Id="rId12" Target="../media/image129.png" Type="http://schemas.openxmlformats.org/officeDocument/2006/relationships/image"/><Relationship Id="rId13" Target="../media/image130.png" Type="http://schemas.openxmlformats.org/officeDocument/2006/relationships/image"/><Relationship Id="rId14" Target="../media/image131.png" Type="http://schemas.openxmlformats.org/officeDocument/2006/relationships/image"/><Relationship Id="rId2" Target="../media/image119.png" Type="http://schemas.openxmlformats.org/officeDocument/2006/relationships/image"/><Relationship Id="rId3" Target="../media/image120.png" Type="http://schemas.openxmlformats.org/officeDocument/2006/relationships/image"/><Relationship Id="rId4" Target="../media/image121.png" Type="http://schemas.openxmlformats.org/officeDocument/2006/relationships/image"/><Relationship Id="rId5" Target="../media/image122.png" Type="http://schemas.openxmlformats.org/officeDocument/2006/relationships/image"/><Relationship Id="rId6" Target="../media/image123.png" Type="http://schemas.openxmlformats.org/officeDocument/2006/relationships/image"/><Relationship Id="rId7" Target="../media/image124.png" Type="http://schemas.openxmlformats.org/officeDocument/2006/relationships/image"/><Relationship Id="rId8" Target="../media/image125.png" Type="http://schemas.openxmlformats.org/officeDocument/2006/relationships/image"/><Relationship Id="rId9" Target="../media/image12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0.png" Type="http://schemas.openxmlformats.org/officeDocument/2006/relationships/image"/><Relationship Id="rId11" Target="../media/image141.png" Type="http://schemas.openxmlformats.org/officeDocument/2006/relationships/image"/><Relationship Id="rId12" Target="../media/image142.png" Type="http://schemas.openxmlformats.org/officeDocument/2006/relationships/image"/><Relationship Id="rId13" Target="../media/image143.png" Type="http://schemas.openxmlformats.org/officeDocument/2006/relationships/image"/><Relationship Id="rId14" Target="../media/image144.png" Type="http://schemas.openxmlformats.org/officeDocument/2006/relationships/image"/><Relationship Id="rId15" Target="../media/image145.png" Type="http://schemas.openxmlformats.org/officeDocument/2006/relationships/image"/><Relationship Id="rId16" Target="../media/image146.png" Type="http://schemas.openxmlformats.org/officeDocument/2006/relationships/image"/><Relationship Id="rId17" Target="../media/image147.png" Type="http://schemas.openxmlformats.org/officeDocument/2006/relationships/image"/><Relationship Id="rId18" Target="../media/image148.png" Type="http://schemas.openxmlformats.org/officeDocument/2006/relationships/image"/><Relationship Id="rId19" Target="../media/image149.png" Type="http://schemas.openxmlformats.org/officeDocument/2006/relationships/image"/><Relationship Id="rId2" Target="../media/image132.png" Type="http://schemas.openxmlformats.org/officeDocument/2006/relationships/image"/><Relationship Id="rId20" Target="../media/image150.png" Type="http://schemas.openxmlformats.org/officeDocument/2006/relationships/image"/><Relationship Id="rId21" Target="../media/image151.png" Type="http://schemas.openxmlformats.org/officeDocument/2006/relationships/image"/><Relationship Id="rId22" Target="../media/image152.png" Type="http://schemas.openxmlformats.org/officeDocument/2006/relationships/image"/><Relationship Id="rId23" Target="../media/image153.png" Type="http://schemas.openxmlformats.org/officeDocument/2006/relationships/image"/><Relationship Id="rId24" Target="../media/image154.png" Type="http://schemas.openxmlformats.org/officeDocument/2006/relationships/image"/><Relationship Id="rId25" Target="../media/image155.png" Type="http://schemas.openxmlformats.org/officeDocument/2006/relationships/image"/><Relationship Id="rId3" Target="../media/image133.png" Type="http://schemas.openxmlformats.org/officeDocument/2006/relationships/image"/><Relationship Id="rId4" Target="../media/image134.png" Type="http://schemas.openxmlformats.org/officeDocument/2006/relationships/image"/><Relationship Id="rId5" Target="../media/image135.png" Type="http://schemas.openxmlformats.org/officeDocument/2006/relationships/image"/><Relationship Id="rId6" Target="../media/image136.png" Type="http://schemas.openxmlformats.org/officeDocument/2006/relationships/image"/><Relationship Id="rId7" Target="../media/image137.png" Type="http://schemas.openxmlformats.org/officeDocument/2006/relationships/image"/><Relationship Id="rId8" Target="../media/image138.png" Type="http://schemas.openxmlformats.org/officeDocument/2006/relationships/image"/><Relationship Id="rId9" Target="../media/image13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3504" y="874000"/>
            <a:ext cx="4956048" cy="1516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41"/>
              </a:lnSpc>
            </a:pPr>
            <a:r>
              <a:rPr lang="en-US" sz="1134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ERRO –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352925" y="1285875"/>
            <a:ext cx="1314450" cy="647700"/>
          </a:xfrm>
          <a:custGeom>
            <a:avLst/>
            <a:gdLst/>
            <a:ahLst/>
            <a:cxnLst/>
            <a:rect r="r" b="b" t="t" l="l"/>
            <a:pathLst>
              <a:path h="647700" w="1314450">
                <a:moveTo>
                  <a:pt x="0" y="0"/>
                </a:moveTo>
                <a:lnTo>
                  <a:pt x="1314450" y="0"/>
                </a:lnTo>
                <a:lnTo>
                  <a:pt x="1314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3504" y="2482904"/>
            <a:ext cx="10497312" cy="200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7760" b="true">
                <a:solidFill>
                  <a:srgbClr val="E81B1B"/>
                </a:solidFill>
                <a:latin typeface="Inter Bold"/>
                <a:ea typeface="Inter Bold"/>
                <a:cs typeface="Inter Bold"/>
                <a:sym typeface="Inter Bold"/>
              </a:rPr>
              <a:t>Emergency Response Route Optimizer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0080" y="4917758"/>
            <a:ext cx="6821424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304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Reducing emergency response time through intelligent route optimization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24000" y="6429375"/>
            <a:ext cx="219075" cy="428625"/>
          </a:xfrm>
          <a:custGeom>
            <a:avLst/>
            <a:gdLst/>
            <a:ahLst/>
            <a:cxnLst/>
            <a:rect r="r" b="b" t="t" l="l"/>
            <a:pathLst>
              <a:path h="428625" w="219075">
                <a:moveTo>
                  <a:pt x="0" y="0"/>
                </a:moveTo>
                <a:lnTo>
                  <a:pt x="219075" y="0"/>
                </a:lnTo>
                <a:lnTo>
                  <a:pt x="2190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28625" y="7715250"/>
            <a:ext cx="7191375" cy="219075"/>
          </a:xfrm>
          <a:custGeom>
            <a:avLst/>
            <a:gdLst/>
            <a:ahLst/>
            <a:cxnLst/>
            <a:rect r="r" b="b" t="t" l="l"/>
            <a:pathLst>
              <a:path h="219075" w="7191375">
                <a:moveTo>
                  <a:pt x="0" y="0"/>
                </a:moveTo>
                <a:lnTo>
                  <a:pt x="7191375" y="0"/>
                </a:lnTo>
                <a:lnTo>
                  <a:pt x="7191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40080" y="8135368"/>
            <a:ext cx="1938528" cy="43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585" b="true">
                <a:solidFill>
                  <a:srgbClr val="E81B1B"/>
                </a:solidFill>
                <a:latin typeface="Inter Bold"/>
                <a:ea typeface="Inter Bold"/>
                <a:cs typeface="Inter Bold"/>
                <a:sym typeface="Inter Bold"/>
              </a:rPr>
              <a:t>TEAM ERRO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93040" y="2864456"/>
            <a:ext cx="2212848" cy="613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08"/>
              </a:lnSpc>
            </a:pPr>
            <a:r>
              <a:rPr lang="en-US" b="true" sz="3577">
                <a:solidFill>
                  <a:srgbClr val="FFFFFF">
                    <a:alpha val="4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JALGAON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0080" y="6392310"/>
            <a:ext cx="6675120" cy="931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8"/>
              </a:lnSpc>
            </a:pPr>
            <a:r>
              <a:rPr lang="en-US" sz="269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TS-1 | Domain: </a:t>
            </a:r>
            <a:r>
              <a:rPr lang="en-US" sz="269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Traffic Safety</a:t>
            </a:r>
            <a:r>
              <a:rPr lang="en-US" sz="269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691" b="true">
                <a:solidFill>
                  <a:srgbClr val="E81B1B"/>
                </a:solidFill>
                <a:latin typeface="Inter Bold"/>
                <a:ea typeface="Inter Bold"/>
                <a:cs typeface="Inter Bold"/>
                <a:sym typeface="Inter Bold"/>
              </a:rPr>
              <a:t>Deployment Area: </a:t>
            </a:r>
            <a:r>
              <a:rPr lang="en-US" sz="269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Jalgaon, Maharashtra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0080" y="8670275"/>
            <a:ext cx="2036420" cy="1299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0"/>
              </a:lnSpc>
            </a:pPr>
            <a:r>
              <a:rPr lang="en-US" sz="247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Pratik Patil </a:t>
            </a:r>
          </a:p>
          <a:p>
            <a:pPr algn="l">
              <a:lnSpc>
                <a:spcPts val="3470"/>
              </a:lnSpc>
            </a:pPr>
            <a:r>
              <a:rPr lang="en-US" sz="247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Neha Rathod</a:t>
            </a:r>
          </a:p>
          <a:p>
            <a:pPr algn="l">
              <a:lnSpc>
                <a:spcPts val="3470"/>
              </a:lnSpc>
            </a:pPr>
            <a:r>
              <a:rPr lang="en-US" sz="247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Sakshi Garud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82112" y="8697049"/>
            <a:ext cx="2748572" cy="1216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1"/>
              </a:lnSpc>
            </a:pPr>
            <a:r>
              <a:rPr lang="en-US" sz="233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Bhumi Rajane</a:t>
            </a:r>
          </a:p>
          <a:p>
            <a:pPr algn="l">
              <a:lnSpc>
                <a:spcPts val="3271"/>
              </a:lnSpc>
            </a:pPr>
            <a:r>
              <a:rPr lang="en-US" sz="233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Aayush Chinchore</a:t>
            </a:r>
          </a:p>
          <a:p>
            <a:pPr algn="l">
              <a:lnSpc>
                <a:spcPts val="3271"/>
              </a:lnSpc>
            </a:pPr>
            <a:r>
              <a:rPr lang="en-US" sz="233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Priyanka Bonde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5216" y="767042"/>
            <a:ext cx="8119872" cy="1433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03"/>
              </a:lnSpc>
            </a:pPr>
            <a:r>
              <a:rPr lang="en-US" sz="10703" spc="-428" b="true">
                <a:solidFill>
                  <a:srgbClr val="E8E8E8"/>
                </a:solidFill>
                <a:latin typeface="Inter Bold"/>
                <a:ea typeface="Inter Bold"/>
                <a:cs typeface="Inter Bold"/>
                <a:sym typeface="Inter Bold"/>
              </a:rPr>
              <a:t>Every Minute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5216" y="2217197"/>
            <a:ext cx="4864608" cy="1423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67"/>
              </a:lnSpc>
            </a:pPr>
            <a:r>
              <a:rPr lang="en-US" sz="10667" spc="-426" b="true">
                <a:solidFill>
                  <a:srgbClr val="E63A3A"/>
                </a:solidFill>
                <a:latin typeface="Inter Bold"/>
                <a:ea typeface="Inter Bold"/>
                <a:cs typeface="Inter Bold"/>
                <a:sym typeface="Inter Bold"/>
              </a:rPr>
              <a:t>Matters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5216" y="4016793"/>
            <a:ext cx="4754880" cy="405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 spc="-96" b="true">
                <a:solidFill>
                  <a:srgbClr val="E8E8E8"/>
                </a:solidFill>
                <a:latin typeface="Inter Medium"/>
                <a:ea typeface="Inter Medium"/>
                <a:cs typeface="Inter Medium"/>
                <a:sym typeface="Inter Medium"/>
              </a:rPr>
              <a:t>Emergencies arise without warning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5216" y="4685760"/>
            <a:ext cx="6236208" cy="415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1"/>
              </a:lnSpc>
            </a:pPr>
            <a:r>
              <a:rPr lang="en-US" sz="2372" spc="-94" b="true">
                <a:solidFill>
                  <a:srgbClr val="E8E8E8"/>
                </a:solidFill>
                <a:latin typeface="Inter Medium"/>
                <a:ea typeface="Inter Medium"/>
                <a:cs typeface="Inter Medium"/>
                <a:sym typeface="Inter Medium"/>
              </a:rPr>
              <a:t>Congestion and delays slow ambulances down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5216" y="5364702"/>
            <a:ext cx="5888736" cy="415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1"/>
              </a:lnSpc>
            </a:pPr>
            <a:r>
              <a:rPr lang="en-US" sz="2372" spc="-94" b="true">
                <a:solidFill>
                  <a:srgbClr val="E8E8E8"/>
                </a:solidFill>
                <a:latin typeface="Inter Medium"/>
                <a:ea typeface="Inter Medium"/>
                <a:cs typeface="Inter Medium"/>
                <a:sym typeface="Inter Medium"/>
              </a:rPr>
              <a:t>Nearest ambulance is not always the fastest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5216" y="6053619"/>
            <a:ext cx="5815584" cy="405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 spc="-96" b="true">
                <a:solidFill>
                  <a:srgbClr val="E8E8E8"/>
                </a:solidFill>
                <a:latin typeface="Inter Medium"/>
                <a:ea typeface="Inter Medium"/>
                <a:cs typeface="Inter Medium"/>
                <a:sym typeface="Inter Medium"/>
              </a:rPr>
              <a:t>Shortest route does not mean fastest route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5216" y="6732561"/>
            <a:ext cx="4480560" cy="405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 spc="-96" b="true">
                <a:solidFill>
                  <a:srgbClr val="E8E8E8"/>
                </a:solidFill>
                <a:latin typeface="Inter Medium"/>
                <a:ea typeface="Inter Medium"/>
                <a:cs typeface="Inter Medium"/>
                <a:sym typeface="Inter Medium"/>
              </a:rPr>
              <a:t>Traffic can change while en route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5216" y="7412836"/>
            <a:ext cx="5084064" cy="824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 spc="-96" b="true">
                <a:solidFill>
                  <a:srgbClr val="E8E8E8"/>
                </a:solidFill>
                <a:latin typeface="Inter Medium"/>
                <a:ea typeface="Inter Medium"/>
                <a:cs typeface="Inter Medium"/>
                <a:sym typeface="Inter Medium"/>
              </a:rPr>
              <a:t>Coordinating a response needs many decisions at once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181850" y="3209925"/>
            <a:ext cx="10896600" cy="2790825"/>
          </a:xfrm>
          <a:custGeom>
            <a:avLst/>
            <a:gdLst/>
            <a:ahLst/>
            <a:cxnLst/>
            <a:rect r="r" b="b" t="t" l="l"/>
            <a:pathLst>
              <a:path h="2790825" w="10896600">
                <a:moveTo>
                  <a:pt x="0" y="0"/>
                </a:moveTo>
                <a:lnTo>
                  <a:pt x="10896600" y="0"/>
                </a:lnTo>
                <a:lnTo>
                  <a:pt x="1089660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827264" y="3835645"/>
            <a:ext cx="1335024" cy="35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b="true" sz="2124" spc="-84">
                <a:solidFill>
                  <a:srgbClr val="E8E8E8"/>
                </a:solidFill>
                <a:latin typeface="Inter Bold"/>
                <a:ea typeface="Inter Bold"/>
                <a:cs typeface="Inter Bold"/>
                <a:sym typeface="Inter Bold"/>
              </a:rPr>
              <a:t>ACCIDENT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20656" y="3839958"/>
            <a:ext cx="1627632" cy="3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b="true" sz="2088" spc="-83">
                <a:solidFill>
                  <a:srgbClr val="E8E8E8"/>
                </a:solidFill>
                <a:latin typeface="Inter Bold"/>
                <a:ea typeface="Inter Bold"/>
                <a:cs typeface="Inter Bold"/>
                <a:sym typeface="Inter Bold"/>
              </a:rPr>
              <a:t>AMBULANCE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43232" y="3821808"/>
            <a:ext cx="1097280" cy="373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b="true" sz="2159" spc="-86">
                <a:solidFill>
                  <a:srgbClr val="E8E8E8"/>
                </a:solidFill>
                <a:latin typeface="Inter Bold"/>
                <a:ea typeface="Inter Bold"/>
                <a:cs typeface="Inter Bold"/>
                <a:sym typeface="Inter Bold"/>
              </a:rPr>
              <a:t>TRAFFIC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209776" y="3821808"/>
            <a:ext cx="896112" cy="373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b="true" sz="2159" spc="-86">
                <a:solidFill>
                  <a:srgbClr val="E8E8E8"/>
                </a:solidFill>
                <a:latin typeface="Inter Bold"/>
                <a:ea typeface="Inter Bold"/>
                <a:cs typeface="Inter Bold"/>
                <a:sym typeface="Inter Bold"/>
              </a:rPr>
              <a:t>ROUTE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239744" y="3839958"/>
            <a:ext cx="1243584" cy="3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b="true" sz="2088" spc="-83">
                <a:solidFill>
                  <a:srgbClr val="E8E8E8"/>
                </a:solidFill>
                <a:latin typeface="Inter Bold"/>
                <a:ea typeface="Inter Bold"/>
                <a:cs typeface="Inter Bold"/>
                <a:sym typeface="Inter Bold"/>
              </a:rPr>
              <a:t>HOSPITAL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7829550" y="4286250"/>
            <a:ext cx="1104900" cy="1285875"/>
          </a:xfrm>
          <a:custGeom>
            <a:avLst/>
            <a:gdLst/>
            <a:ahLst/>
            <a:cxnLst/>
            <a:rect r="r" b="b" t="t" l="l"/>
            <a:pathLst>
              <a:path h="1285875" w="1104900">
                <a:moveTo>
                  <a:pt x="0" y="0"/>
                </a:moveTo>
                <a:lnTo>
                  <a:pt x="1104900" y="0"/>
                </a:lnTo>
                <a:lnTo>
                  <a:pt x="11049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144000" y="4714875"/>
            <a:ext cx="876300" cy="428625"/>
          </a:xfrm>
          <a:custGeom>
            <a:avLst/>
            <a:gdLst/>
            <a:ahLst/>
            <a:cxnLst/>
            <a:rect r="r" b="b" t="t" l="l"/>
            <a:pathLst>
              <a:path h="428625" w="876300">
                <a:moveTo>
                  <a:pt x="0" y="0"/>
                </a:moveTo>
                <a:lnTo>
                  <a:pt x="876300" y="0"/>
                </a:lnTo>
                <a:lnTo>
                  <a:pt x="876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010775" y="4286250"/>
            <a:ext cx="1095375" cy="1285875"/>
          </a:xfrm>
          <a:custGeom>
            <a:avLst/>
            <a:gdLst/>
            <a:ahLst/>
            <a:cxnLst/>
            <a:rect r="r" b="b" t="t" l="l"/>
            <a:pathLst>
              <a:path h="1285875" w="1095375">
                <a:moveTo>
                  <a:pt x="0" y="0"/>
                </a:moveTo>
                <a:lnTo>
                  <a:pt x="1095375" y="0"/>
                </a:lnTo>
                <a:lnTo>
                  <a:pt x="1095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315700" y="4714875"/>
            <a:ext cx="876300" cy="428625"/>
          </a:xfrm>
          <a:custGeom>
            <a:avLst/>
            <a:gdLst/>
            <a:ahLst/>
            <a:cxnLst/>
            <a:rect r="r" b="b" t="t" l="l"/>
            <a:pathLst>
              <a:path h="428625" w="876300">
                <a:moveTo>
                  <a:pt x="0" y="0"/>
                </a:moveTo>
                <a:lnTo>
                  <a:pt x="876300" y="0"/>
                </a:lnTo>
                <a:lnTo>
                  <a:pt x="876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192000" y="4286250"/>
            <a:ext cx="876300" cy="1285875"/>
          </a:xfrm>
          <a:custGeom>
            <a:avLst/>
            <a:gdLst/>
            <a:ahLst/>
            <a:cxnLst/>
            <a:rect r="r" b="b" t="t" l="l"/>
            <a:pathLst>
              <a:path h="1285875" w="876300">
                <a:moveTo>
                  <a:pt x="0" y="0"/>
                </a:moveTo>
                <a:lnTo>
                  <a:pt x="876300" y="0"/>
                </a:lnTo>
                <a:lnTo>
                  <a:pt x="8763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058775" y="4714875"/>
            <a:ext cx="1095375" cy="428625"/>
          </a:xfrm>
          <a:custGeom>
            <a:avLst/>
            <a:gdLst/>
            <a:ahLst/>
            <a:cxnLst/>
            <a:rect r="r" b="b" t="t" l="l"/>
            <a:pathLst>
              <a:path h="428625" w="1095375">
                <a:moveTo>
                  <a:pt x="0" y="0"/>
                </a:moveTo>
                <a:lnTo>
                  <a:pt x="1095375" y="0"/>
                </a:lnTo>
                <a:lnTo>
                  <a:pt x="10953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144625" y="4495800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240000" y="4714875"/>
            <a:ext cx="876300" cy="428625"/>
          </a:xfrm>
          <a:custGeom>
            <a:avLst/>
            <a:gdLst/>
            <a:ahLst/>
            <a:cxnLst/>
            <a:rect r="r" b="b" t="t" l="l"/>
            <a:pathLst>
              <a:path h="428625" w="876300">
                <a:moveTo>
                  <a:pt x="0" y="0"/>
                </a:moveTo>
                <a:lnTo>
                  <a:pt x="876300" y="0"/>
                </a:lnTo>
                <a:lnTo>
                  <a:pt x="876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6325850" y="4286250"/>
            <a:ext cx="1095375" cy="1285875"/>
          </a:xfrm>
          <a:custGeom>
            <a:avLst/>
            <a:gdLst/>
            <a:ahLst/>
            <a:cxnLst/>
            <a:rect r="r" b="b" t="t" l="l"/>
            <a:pathLst>
              <a:path h="1285875" w="1095375">
                <a:moveTo>
                  <a:pt x="0" y="0"/>
                </a:moveTo>
                <a:lnTo>
                  <a:pt x="1095375" y="0"/>
                </a:lnTo>
                <a:lnTo>
                  <a:pt x="1095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6550640" y="4309478"/>
            <a:ext cx="694944" cy="122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20"/>
              </a:lnSpc>
            </a:pPr>
            <a:r>
              <a:rPr lang="en-US" b="true" sz="7229" spc="-289">
                <a:solidFill>
                  <a:srgbClr val="0B1320"/>
                </a:solidFill>
                <a:latin typeface="Inter Bold"/>
                <a:ea typeface="Inter Bold"/>
                <a:cs typeface="Inter Bold"/>
                <a:sym typeface="Inter Bold"/>
              </a:rPr>
              <a:t>H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7181850" y="6429375"/>
            <a:ext cx="10896600" cy="3429000"/>
          </a:xfrm>
          <a:custGeom>
            <a:avLst/>
            <a:gdLst/>
            <a:ahLst/>
            <a:cxnLst/>
            <a:rect r="r" b="b" t="t" l="l"/>
            <a:pathLst>
              <a:path h="3429000" w="10896600">
                <a:moveTo>
                  <a:pt x="0" y="0"/>
                </a:moveTo>
                <a:lnTo>
                  <a:pt x="10896600" y="0"/>
                </a:lnTo>
                <a:lnTo>
                  <a:pt x="108966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181850" y="6429375"/>
            <a:ext cx="228600" cy="3429000"/>
          </a:xfrm>
          <a:custGeom>
            <a:avLst/>
            <a:gdLst/>
            <a:ahLst/>
            <a:cxnLst/>
            <a:rect r="r" b="b" t="t" l="l"/>
            <a:pathLst>
              <a:path h="3429000" w="228600">
                <a:moveTo>
                  <a:pt x="0" y="0"/>
                </a:moveTo>
                <a:lnTo>
                  <a:pt x="228600" y="0"/>
                </a:lnTo>
                <a:lnTo>
                  <a:pt x="2286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7991856" y="6828282"/>
            <a:ext cx="8979408" cy="251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6"/>
              </a:lnSpc>
            </a:pPr>
            <a:r>
              <a:rPr lang="en-US" sz="4180" spc="-167" b="true">
                <a:solidFill>
                  <a:srgbClr val="E8E8E8"/>
                </a:solidFill>
                <a:latin typeface="Inter Medium"/>
                <a:ea typeface="Inter Medium"/>
                <a:cs typeface="Inter Medium"/>
                <a:sym typeface="Inter Medium"/>
              </a:rPr>
              <a:t>The objective is not simply to find </a:t>
            </a:r>
            <a:r>
              <a:rPr lang="en-US" sz="4180" spc="-167" b="true">
                <a:solidFill>
                  <a:srgbClr val="E63A3A"/>
                </a:solidFill>
                <a:latin typeface="Inter Medium"/>
                <a:ea typeface="Inter Medium"/>
                <a:cs typeface="Inter Medium"/>
                <a:sym typeface="Inter Medium"/>
              </a:rPr>
              <a:t>the shortest route</a:t>
            </a:r>
            <a:r>
              <a:rPr lang="en-US" sz="4180" spc="-167" b="true">
                <a:solidFill>
                  <a:srgbClr val="E8E8E8"/>
                </a:solidFill>
                <a:latin typeface="Inter Medium"/>
                <a:ea typeface="Inter Medium"/>
                <a:cs typeface="Inter Medium"/>
                <a:sym typeface="Inter Medium"/>
              </a:rPr>
              <a:t>;</a:t>
            </a:r>
          </a:p>
          <a:p>
            <a:pPr algn="l">
              <a:lnSpc>
                <a:spcPts val="5016"/>
              </a:lnSpc>
            </a:pPr>
            <a:r>
              <a:rPr lang="en-US" sz="4180" spc="-167" b="true">
                <a:solidFill>
                  <a:srgbClr val="E8E8E8"/>
                </a:solidFill>
                <a:latin typeface="Inter Medium"/>
                <a:ea typeface="Inter Medium"/>
                <a:cs typeface="Inter Medium"/>
                <a:sym typeface="Inter Medium"/>
              </a:rPr>
              <a:t>it is to find </a:t>
            </a:r>
            <a:r>
              <a:rPr lang="en-US" sz="4180" spc="-167" b="true">
                <a:solidFill>
                  <a:srgbClr val="E63A3A"/>
                </a:solidFill>
                <a:latin typeface="Inter Medium"/>
                <a:ea typeface="Inter Medium"/>
                <a:cs typeface="Inter Medium"/>
                <a:sym typeface="Inter Medium"/>
              </a:rPr>
              <a:t>the fastest feasible emergency response route.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5850" y="6429375"/>
            <a:ext cx="6534150" cy="3857625"/>
          </a:xfrm>
          <a:custGeom>
            <a:avLst/>
            <a:gdLst/>
            <a:ahLst/>
            <a:cxnLst/>
            <a:rect r="r" b="b" t="t" l="l"/>
            <a:pathLst>
              <a:path h="3857625" w="6534150">
                <a:moveTo>
                  <a:pt x="0" y="0"/>
                </a:moveTo>
                <a:lnTo>
                  <a:pt x="6534150" y="0"/>
                </a:lnTo>
                <a:lnTo>
                  <a:pt x="6534150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58368" y="773951"/>
            <a:ext cx="3401568" cy="1378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83"/>
              </a:lnSpc>
            </a:pPr>
            <a:r>
              <a:rPr lang="en-US" b="true" sz="10383" spc="-415">
                <a:solidFill>
                  <a:srgbClr val="E9E9E9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ERRO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8368" y="2087326"/>
            <a:ext cx="7059168" cy="1262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8"/>
              </a:lnSpc>
            </a:pPr>
            <a:r>
              <a:rPr lang="en-US" sz="9568" spc="-382" b="true">
                <a:solidFill>
                  <a:srgbClr val="D33B3B"/>
                </a:solidFill>
                <a:latin typeface="Inter Bold"/>
                <a:ea typeface="Inter Bold"/>
                <a:cs typeface="Inter Bold"/>
                <a:sym typeface="Inter Bold"/>
              </a:rPr>
              <a:t>System Flow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8625" y="3857625"/>
            <a:ext cx="447675" cy="3219450"/>
          </a:xfrm>
          <a:custGeom>
            <a:avLst/>
            <a:gdLst/>
            <a:ahLst/>
            <a:cxnLst/>
            <a:rect r="r" b="b" t="t" l="l"/>
            <a:pathLst>
              <a:path h="3219450" w="447675">
                <a:moveTo>
                  <a:pt x="0" y="0"/>
                </a:moveTo>
                <a:lnTo>
                  <a:pt x="447675" y="0"/>
                </a:lnTo>
                <a:lnTo>
                  <a:pt x="44767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96112" y="3800398"/>
            <a:ext cx="5084064" cy="328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3"/>
              </a:lnSpc>
            </a:pPr>
            <a:r>
              <a:rPr lang="en-US" sz="2726" spc="-109" b="true">
                <a:solidFill>
                  <a:srgbClr val="E9E9E9"/>
                </a:solidFill>
                <a:latin typeface="Inter Medium"/>
                <a:ea typeface="Inter Medium"/>
                <a:cs typeface="Inter Medium"/>
                <a:sym typeface="Inter Medium"/>
              </a:rPr>
              <a:t>ERRO is a digital emergency command center built for Jalgaon. It connects every critical decision from the first alert to the hospital handover through intelligent route optimization.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353550" y="428625"/>
            <a:ext cx="1104900" cy="1285875"/>
          </a:xfrm>
          <a:custGeom>
            <a:avLst/>
            <a:gdLst/>
            <a:ahLst/>
            <a:cxnLst/>
            <a:rect r="r" b="b" t="t" l="l"/>
            <a:pathLst>
              <a:path h="1285875" w="1104900">
                <a:moveTo>
                  <a:pt x="0" y="0"/>
                </a:moveTo>
                <a:lnTo>
                  <a:pt x="1104900" y="0"/>
                </a:lnTo>
                <a:lnTo>
                  <a:pt x="11049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674352" y="891181"/>
            <a:ext cx="475488" cy="424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b="true" sz="3223" spc="-128">
                <a:solidFill>
                  <a:srgbClr val="E9E9E9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229850" y="428625"/>
            <a:ext cx="6534150" cy="1285875"/>
          </a:xfrm>
          <a:custGeom>
            <a:avLst/>
            <a:gdLst/>
            <a:ahLst/>
            <a:cxnLst/>
            <a:rect r="r" b="b" t="t" l="l"/>
            <a:pathLst>
              <a:path h="1285875" w="6534150">
                <a:moveTo>
                  <a:pt x="0" y="0"/>
                </a:moveTo>
                <a:lnTo>
                  <a:pt x="6534150" y="0"/>
                </a:lnTo>
                <a:lnTo>
                  <a:pt x="65341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655296" y="871058"/>
            <a:ext cx="1627632" cy="42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b="true" sz="3187" spc="-127">
                <a:solidFill>
                  <a:srgbClr val="E9E9E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Accident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058775" y="1285875"/>
            <a:ext cx="657225" cy="857250"/>
          </a:xfrm>
          <a:custGeom>
            <a:avLst/>
            <a:gdLst/>
            <a:ahLst/>
            <a:cxnLst/>
            <a:rect r="r" b="b" t="t" l="l"/>
            <a:pathLst>
              <a:path h="857250" w="657225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353550" y="1714500"/>
            <a:ext cx="1104900" cy="1285875"/>
          </a:xfrm>
          <a:custGeom>
            <a:avLst/>
            <a:gdLst/>
            <a:ahLst/>
            <a:cxnLst/>
            <a:rect r="r" b="b" t="t" l="l"/>
            <a:pathLst>
              <a:path h="1285875" w="1104900">
                <a:moveTo>
                  <a:pt x="0" y="0"/>
                </a:moveTo>
                <a:lnTo>
                  <a:pt x="1104900" y="0"/>
                </a:lnTo>
                <a:lnTo>
                  <a:pt x="11049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656064" y="2207917"/>
            <a:ext cx="512064" cy="424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b="true" sz="3223" spc="-128">
                <a:solidFill>
                  <a:srgbClr val="E9E9E9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0229850" y="1714500"/>
            <a:ext cx="6534150" cy="1285875"/>
          </a:xfrm>
          <a:custGeom>
            <a:avLst/>
            <a:gdLst/>
            <a:ahLst/>
            <a:cxnLst/>
            <a:rect r="r" b="b" t="t" l="l"/>
            <a:pathLst>
              <a:path h="1285875" w="6534150">
                <a:moveTo>
                  <a:pt x="0" y="0"/>
                </a:moveTo>
                <a:lnTo>
                  <a:pt x="6534150" y="0"/>
                </a:lnTo>
                <a:lnTo>
                  <a:pt x="65341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710160" y="2203743"/>
            <a:ext cx="1536192" cy="412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6"/>
              </a:lnSpc>
            </a:pPr>
            <a:r>
              <a:rPr lang="en-US" b="true" sz="3116" spc="-124">
                <a:solidFill>
                  <a:srgbClr val="E9E9E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Location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3058775" y="278130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353550" y="3209925"/>
            <a:ext cx="1104900" cy="1076325"/>
          </a:xfrm>
          <a:custGeom>
            <a:avLst/>
            <a:gdLst/>
            <a:ahLst/>
            <a:cxnLst/>
            <a:rect r="r" b="b" t="t" l="l"/>
            <a:pathLst>
              <a:path h="1076325" w="1104900">
                <a:moveTo>
                  <a:pt x="0" y="0"/>
                </a:moveTo>
                <a:lnTo>
                  <a:pt x="1104900" y="0"/>
                </a:lnTo>
                <a:lnTo>
                  <a:pt x="11049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656064" y="3566702"/>
            <a:ext cx="512064" cy="42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</a:pPr>
            <a:r>
              <a:rPr lang="en-US" b="true" sz="3152" spc="-126">
                <a:solidFill>
                  <a:srgbClr val="E9E9E9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229850" y="3209925"/>
            <a:ext cx="6534150" cy="1076325"/>
          </a:xfrm>
          <a:custGeom>
            <a:avLst/>
            <a:gdLst/>
            <a:ahLst/>
            <a:cxnLst/>
            <a:rect r="r" b="b" t="t" l="l"/>
            <a:pathLst>
              <a:path h="1076325" w="6534150">
                <a:moveTo>
                  <a:pt x="0" y="0"/>
                </a:moveTo>
                <a:lnTo>
                  <a:pt x="6534150" y="0"/>
                </a:lnTo>
                <a:lnTo>
                  <a:pt x="65341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539728" y="3556415"/>
            <a:ext cx="3840480" cy="42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</a:pPr>
            <a:r>
              <a:rPr lang="en-US" b="true" sz="3152" spc="-126">
                <a:solidFill>
                  <a:srgbClr val="E9E9E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Ambulance Selection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3058775" y="406717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353550" y="4495800"/>
            <a:ext cx="1104900" cy="1295400"/>
          </a:xfrm>
          <a:custGeom>
            <a:avLst/>
            <a:gdLst/>
            <a:ahLst/>
            <a:cxnLst/>
            <a:rect r="r" b="b" t="t" l="l"/>
            <a:pathLst>
              <a:path h="1295400" w="1104900">
                <a:moveTo>
                  <a:pt x="0" y="0"/>
                </a:moveTo>
                <a:lnTo>
                  <a:pt x="1104900" y="0"/>
                </a:lnTo>
                <a:lnTo>
                  <a:pt x="11049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656064" y="4923685"/>
            <a:ext cx="530352" cy="424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b="true" sz="3223" spc="-128">
                <a:solidFill>
                  <a:srgbClr val="E9E9E9"/>
                </a:solidFill>
                <a:latin typeface="Inter Bold"/>
                <a:ea typeface="Inter Bold"/>
                <a:cs typeface="Inter Bold"/>
                <a:sym typeface="Inter Bold"/>
              </a:rPr>
              <a:t>04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0229850" y="4495800"/>
            <a:ext cx="6534150" cy="1295400"/>
          </a:xfrm>
          <a:custGeom>
            <a:avLst/>
            <a:gdLst/>
            <a:ahLst/>
            <a:cxnLst/>
            <a:rect r="r" b="b" t="t" l="l"/>
            <a:pathLst>
              <a:path h="1295400" w="6534150">
                <a:moveTo>
                  <a:pt x="0" y="0"/>
                </a:moveTo>
                <a:lnTo>
                  <a:pt x="6534150" y="0"/>
                </a:lnTo>
                <a:lnTo>
                  <a:pt x="65341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2106656" y="4914299"/>
            <a:ext cx="2761488" cy="42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</a:pPr>
            <a:r>
              <a:rPr lang="en-US" b="true" sz="3152" spc="-126">
                <a:solidFill>
                  <a:srgbClr val="E9E9E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Traffic Analysis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3058775" y="55721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353550" y="5781675"/>
            <a:ext cx="1104900" cy="1295400"/>
          </a:xfrm>
          <a:custGeom>
            <a:avLst/>
            <a:gdLst/>
            <a:ahLst/>
            <a:cxnLst/>
            <a:rect r="r" b="b" t="t" l="l"/>
            <a:pathLst>
              <a:path h="1295400" w="1104900">
                <a:moveTo>
                  <a:pt x="0" y="0"/>
                </a:moveTo>
                <a:lnTo>
                  <a:pt x="1104900" y="0"/>
                </a:lnTo>
                <a:lnTo>
                  <a:pt x="11049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9656064" y="6281569"/>
            <a:ext cx="530352" cy="424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b="true" sz="3223" spc="-128">
                <a:solidFill>
                  <a:srgbClr val="E9E9E9"/>
                </a:solidFill>
                <a:latin typeface="Inter Bold"/>
                <a:ea typeface="Inter Bold"/>
                <a:cs typeface="Inter Bold"/>
                <a:sym typeface="Inter Bold"/>
              </a:rPr>
              <a:t>05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0229850" y="5781675"/>
            <a:ext cx="6534150" cy="1295400"/>
          </a:xfrm>
          <a:custGeom>
            <a:avLst/>
            <a:gdLst/>
            <a:ahLst/>
            <a:cxnLst/>
            <a:rect r="r" b="b" t="t" l="l"/>
            <a:pathLst>
              <a:path h="1295400" w="6534150">
                <a:moveTo>
                  <a:pt x="0" y="0"/>
                </a:moveTo>
                <a:lnTo>
                  <a:pt x="6534150" y="0"/>
                </a:lnTo>
                <a:lnTo>
                  <a:pt x="65341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1704320" y="6271733"/>
            <a:ext cx="3493008" cy="42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b="true" sz="3187" spc="-127">
                <a:solidFill>
                  <a:srgbClr val="E9E9E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Route Optimization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3058775" y="685800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9353550" y="7067550"/>
            <a:ext cx="1104900" cy="1295400"/>
          </a:xfrm>
          <a:custGeom>
            <a:avLst/>
            <a:gdLst/>
            <a:ahLst/>
            <a:cxnLst/>
            <a:rect r="r" b="b" t="t" l="l"/>
            <a:pathLst>
              <a:path h="1295400" w="1104900">
                <a:moveTo>
                  <a:pt x="0" y="0"/>
                </a:moveTo>
                <a:lnTo>
                  <a:pt x="1104900" y="0"/>
                </a:lnTo>
                <a:lnTo>
                  <a:pt x="11049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9656064" y="7598305"/>
            <a:ext cx="530352" cy="424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b="true" sz="3223" spc="-128">
                <a:solidFill>
                  <a:srgbClr val="E9E9E9"/>
                </a:solidFill>
                <a:latin typeface="Inter Bold"/>
                <a:ea typeface="Inter Bold"/>
                <a:cs typeface="Inter Bold"/>
                <a:sym typeface="Inter Bold"/>
              </a:rPr>
              <a:t>06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0229850" y="7067550"/>
            <a:ext cx="6534150" cy="1295400"/>
          </a:xfrm>
          <a:custGeom>
            <a:avLst/>
            <a:gdLst/>
            <a:ahLst/>
            <a:cxnLst/>
            <a:rect r="r" b="b" t="t" l="l"/>
            <a:pathLst>
              <a:path h="1295400" w="6534150">
                <a:moveTo>
                  <a:pt x="0" y="0"/>
                </a:moveTo>
                <a:lnTo>
                  <a:pt x="6534150" y="0"/>
                </a:lnTo>
                <a:lnTo>
                  <a:pt x="65341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2106656" y="7594131"/>
            <a:ext cx="2724912" cy="412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6"/>
              </a:lnSpc>
            </a:pPr>
            <a:r>
              <a:rPr lang="en-US" b="true" sz="3116" spc="-124">
                <a:solidFill>
                  <a:srgbClr val="E9E9E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Live Navigation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3058775" y="814387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9353550" y="8572500"/>
            <a:ext cx="1104900" cy="1076325"/>
          </a:xfrm>
          <a:custGeom>
            <a:avLst/>
            <a:gdLst/>
            <a:ahLst/>
            <a:cxnLst/>
            <a:rect r="r" b="b" t="t" l="l"/>
            <a:pathLst>
              <a:path h="1076325" w="1104900">
                <a:moveTo>
                  <a:pt x="0" y="0"/>
                </a:moveTo>
                <a:lnTo>
                  <a:pt x="1104900" y="0"/>
                </a:lnTo>
                <a:lnTo>
                  <a:pt x="11049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9656064" y="8945902"/>
            <a:ext cx="512064" cy="424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b="true" sz="3223" spc="-128">
                <a:solidFill>
                  <a:srgbClr val="E9E9E9"/>
                </a:solidFill>
                <a:latin typeface="Inter Bold"/>
                <a:ea typeface="Inter Bold"/>
                <a:cs typeface="Inter Bold"/>
                <a:sym typeface="Inter Bold"/>
              </a:rPr>
              <a:t>07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0229850" y="8572500"/>
            <a:ext cx="6534150" cy="1076325"/>
          </a:xfrm>
          <a:custGeom>
            <a:avLst/>
            <a:gdLst/>
            <a:ahLst/>
            <a:cxnLst/>
            <a:rect r="r" b="b" t="t" l="l"/>
            <a:pathLst>
              <a:path h="1076325" w="6534150">
                <a:moveTo>
                  <a:pt x="0" y="0"/>
                </a:moveTo>
                <a:lnTo>
                  <a:pt x="6534150" y="0"/>
                </a:lnTo>
                <a:lnTo>
                  <a:pt x="65341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1814048" y="8946353"/>
            <a:ext cx="3291840" cy="42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b="true" sz="3187" spc="-127">
                <a:solidFill>
                  <a:srgbClr val="E9E9E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Hospital Selection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24625" y="428625"/>
            <a:ext cx="9591675" cy="9429750"/>
          </a:xfrm>
          <a:custGeom>
            <a:avLst/>
            <a:gdLst/>
            <a:ahLst/>
            <a:cxnLst/>
            <a:rect r="r" b="b" t="t" l="l"/>
            <a:pathLst>
              <a:path h="9429750" w="9591675">
                <a:moveTo>
                  <a:pt x="0" y="0"/>
                </a:moveTo>
                <a:lnTo>
                  <a:pt x="9591675" y="0"/>
                </a:lnTo>
                <a:lnTo>
                  <a:pt x="9591675" y="9429750"/>
                </a:lnTo>
                <a:lnTo>
                  <a:pt x="0" y="9429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8640" y="924616"/>
            <a:ext cx="6986016" cy="1131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40"/>
              </a:lnSpc>
            </a:pPr>
            <a:r>
              <a:rPr lang="en-US" sz="8540" spc="-341" b="true">
                <a:solidFill>
                  <a:srgbClr val="D9D9D9"/>
                </a:solidFill>
                <a:latin typeface="Inter Bold"/>
                <a:ea typeface="Inter Bold"/>
                <a:cs typeface="Inter Bold"/>
                <a:sym typeface="Inter Bold"/>
              </a:rPr>
              <a:t>Why </a:t>
            </a:r>
            <a:r>
              <a:rPr lang="en-US" sz="8540" spc="-341" b="true">
                <a:solidFill>
                  <a:srgbClr val="B62929"/>
                </a:solidFill>
                <a:latin typeface="Inter Bold"/>
                <a:ea typeface="Inter Bold"/>
                <a:cs typeface="Inter Bold"/>
                <a:sym typeface="Inter Bold"/>
              </a:rPr>
              <a:t>Jalgaon?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8640" y="2927531"/>
            <a:ext cx="4718304" cy="1298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514" spc="-75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Maharashtra’s MEMS framework employs GIS/GPS/AVL tech for emergency medical response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48640" y="5066292"/>
            <a:ext cx="5010912" cy="226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8"/>
              </a:lnSpc>
            </a:pPr>
            <a:r>
              <a:rPr lang="en-US" sz="2620" spc="-78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Maharashtra State Disaster Management Authority maintains Jalgaon District Disaster Management Plan and emergency contact infrastructure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8640" y="8362254"/>
            <a:ext cx="4864608" cy="1353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585" spc="-77">
                <a:solidFill>
                  <a:srgbClr val="B62929"/>
                </a:solidFill>
                <a:latin typeface="Inter"/>
                <a:ea typeface="Inter"/>
                <a:cs typeface="Inter"/>
                <a:sym typeface="Inter"/>
              </a:rPr>
              <a:t>Disclaimer: </a:t>
            </a:r>
            <a:r>
              <a:rPr lang="en-US" sz="2585" spc="-77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Simulated ambulance locations are prototypes, not verified real-time units.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572625" y="857250"/>
            <a:ext cx="885825" cy="647700"/>
          </a:xfrm>
          <a:custGeom>
            <a:avLst/>
            <a:gdLst/>
            <a:ahLst/>
            <a:cxnLst/>
            <a:rect r="r" b="b" t="t" l="l"/>
            <a:pathLst>
              <a:path h="647700" w="885825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588752" y="2295509"/>
            <a:ext cx="640080" cy="448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1"/>
              </a:lnSpc>
            </a:pPr>
            <a:r>
              <a:rPr lang="en-US" sz="1592" spc="-47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MIDC Chowk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448925" y="2781300"/>
            <a:ext cx="438150" cy="438150"/>
          </a:xfrm>
          <a:custGeom>
            <a:avLst/>
            <a:gdLst/>
            <a:ahLst/>
            <a:cxnLst/>
            <a:rect r="r" b="b" t="t" l="l"/>
            <a:pathLst>
              <a:path h="438150" w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094976" y="3903572"/>
            <a:ext cx="1737360" cy="398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4"/>
              </a:lnSpc>
            </a:pPr>
            <a:r>
              <a:rPr lang="en-US" b="true" sz="2904" spc="-87">
                <a:solidFill>
                  <a:srgbClr val="D9D9D9"/>
                </a:solidFill>
                <a:latin typeface="Inter Bold"/>
                <a:ea typeface="Inter Bold"/>
                <a:cs typeface="Inter Bold"/>
                <a:sym typeface="Inter Bold"/>
              </a:rPr>
              <a:t>JALGAON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705850" y="4067175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181850" y="4714875"/>
            <a:ext cx="657225" cy="857250"/>
          </a:xfrm>
          <a:custGeom>
            <a:avLst/>
            <a:gdLst/>
            <a:ahLst/>
            <a:cxnLst/>
            <a:rect r="r" b="b" t="t" l="l"/>
            <a:pathLst>
              <a:path h="857250" w="657225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401550" y="2143125"/>
            <a:ext cx="885825" cy="857250"/>
          </a:xfrm>
          <a:custGeom>
            <a:avLst/>
            <a:gdLst/>
            <a:ahLst/>
            <a:cxnLst/>
            <a:rect r="r" b="b" t="t" l="l"/>
            <a:pathLst>
              <a:path h="857250" w="885825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363700" y="149542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325850" y="2781300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015216" y="4778001"/>
            <a:ext cx="822960" cy="688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8"/>
              </a:lnSpc>
            </a:pPr>
            <a:r>
              <a:rPr lang="en-US" sz="1698" spc="-5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Station Road Junction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315700" y="4924425"/>
            <a:ext cx="666750" cy="438150"/>
          </a:xfrm>
          <a:custGeom>
            <a:avLst/>
            <a:gdLst/>
            <a:ahLst/>
            <a:cxnLst/>
            <a:rect r="r" b="b" t="t" l="l"/>
            <a:pathLst>
              <a:path h="438150" w="6667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1868912" y="6099464"/>
            <a:ext cx="822960" cy="35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8"/>
              </a:lnSpc>
            </a:pPr>
            <a:r>
              <a:rPr lang="en-US" sz="1344" spc="-4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Muktai Ubayalulat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1096625" y="6210300"/>
            <a:ext cx="885825" cy="866775"/>
          </a:xfrm>
          <a:custGeom>
            <a:avLst/>
            <a:gdLst/>
            <a:ahLst/>
            <a:cxnLst/>
            <a:rect r="r" b="b" t="t" l="l"/>
            <a:pathLst>
              <a:path h="866775" w="885825">
                <a:moveTo>
                  <a:pt x="0" y="0"/>
                </a:moveTo>
                <a:lnTo>
                  <a:pt x="885825" y="0"/>
                </a:lnTo>
                <a:lnTo>
                  <a:pt x="885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144625" y="5353050"/>
            <a:ext cx="885825" cy="647700"/>
          </a:xfrm>
          <a:custGeom>
            <a:avLst/>
            <a:gdLst/>
            <a:ahLst/>
            <a:cxnLst/>
            <a:rect r="r" b="b" t="t" l="l"/>
            <a:pathLst>
              <a:path h="647700" w="885825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923776" y="7995217"/>
            <a:ext cx="1060704" cy="509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840" spc="-55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Simulated Unit D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2192000" y="72866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058400" y="9574652"/>
            <a:ext cx="1609344" cy="261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840" spc="-55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Towards Pune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0229850" y="9001125"/>
            <a:ext cx="1314450" cy="428625"/>
          </a:xfrm>
          <a:custGeom>
            <a:avLst/>
            <a:gdLst/>
            <a:ahLst/>
            <a:cxnLst/>
            <a:rect r="r" b="b" t="t" l="l"/>
            <a:pathLst>
              <a:path h="428625" w="1314450">
                <a:moveTo>
                  <a:pt x="0" y="0"/>
                </a:moveTo>
                <a:lnTo>
                  <a:pt x="1314450" y="0"/>
                </a:lnTo>
                <a:lnTo>
                  <a:pt x="13144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925550" y="7067550"/>
            <a:ext cx="885825" cy="438150"/>
          </a:xfrm>
          <a:custGeom>
            <a:avLst/>
            <a:gdLst/>
            <a:ahLst/>
            <a:cxnLst/>
            <a:rect r="r" b="b" t="t" l="l"/>
            <a:pathLst>
              <a:path h="438150" w="885825">
                <a:moveTo>
                  <a:pt x="0" y="0"/>
                </a:moveTo>
                <a:lnTo>
                  <a:pt x="885825" y="0"/>
                </a:lnTo>
                <a:lnTo>
                  <a:pt x="8858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4144625" y="7715250"/>
            <a:ext cx="666750" cy="219075"/>
          </a:xfrm>
          <a:custGeom>
            <a:avLst/>
            <a:gdLst/>
            <a:ahLst/>
            <a:cxnLst/>
            <a:rect r="r" b="b" t="t" l="l"/>
            <a:pathLst>
              <a:path h="219075" w="666750">
                <a:moveTo>
                  <a:pt x="0" y="0"/>
                </a:moveTo>
                <a:lnTo>
                  <a:pt x="666750" y="0"/>
                </a:lnTo>
                <a:lnTo>
                  <a:pt x="666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4831568" y="8242105"/>
            <a:ext cx="2468880" cy="509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4"/>
              </a:lnSpc>
            </a:pPr>
            <a:r>
              <a:rPr lang="en-US" sz="1840" spc="-55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Highway connections</a:t>
            </a:r>
          </a:p>
          <a:p>
            <a:pPr algn="l">
              <a:lnSpc>
                <a:spcPts val="2024"/>
              </a:lnSpc>
            </a:pPr>
            <a:r>
              <a:rPr lang="en-US" sz="1840" spc="-55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high traffic areas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4144625" y="792480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4831568" y="8844275"/>
            <a:ext cx="2670048" cy="261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4"/>
              </a:lnSpc>
            </a:pPr>
            <a:r>
              <a:rPr lang="en-US" sz="1840" spc="-55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Important intersections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4144625" y="8782050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4831568" y="9322240"/>
            <a:ext cx="2560320" cy="509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4"/>
              </a:lnSpc>
            </a:pPr>
            <a:r>
              <a:rPr lang="en-US" sz="1840" spc="-55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Prototype / Simulated Emergency Units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3925550" y="9210675"/>
            <a:ext cx="885825" cy="647700"/>
          </a:xfrm>
          <a:custGeom>
            <a:avLst/>
            <a:gdLst/>
            <a:ahLst/>
            <a:cxnLst/>
            <a:rect r="r" b="b" t="t" l="l"/>
            <a:pathLst>
              <a:path h="647700" w="885825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0668000" y="1066800"/>
            <a:ext cx="3048000" cy="8582025"/>
          </a:xfrm>
          <a:custGeom>
            <a:avLst/>
            <a:gdLst/>
            <a:ahLst/>
            <a:cxnLst/>
            <a:rect r="r" b="b" t="t" l="l"/>
            <a:pathLst>
              <a:path h="8582025" w="3048000">
                <a:moveTo>
                  <a:pt x="0" y="0"/>
                </a:moveTo>
                <a:lnTo>
                  <a:pt x="3048000" y="0"/>
                </a:lnTo>
                <a:lnTo>
                  <a:pt x="3048000" y="8582025"/>
                </a:lnTo>
                <a:lnTo>
                  <a:pt x="0" y="85820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7829550" y="1066800"/>
            <a:ext cx="5886450" cy="4076700"/>
          </a:xfrm>
          <a:custGeom>
            <a:avLst/>
            <a:gdLst/>
            <a:ahLst/>
            <a:cxnLst/>
            <a:rect r="r" b="b" t="t" l="l"/>
            <a:pathLst>
              <a:path h="4076700" w="5886450">
                <a:moveTo>
                  <a:pt x="0" y="0"/>
                </a:moveTo>
                <a:lnTo>
                  <a:pt x="5886450" y="0"/>
                </a:lnTo>
                <a:lnTo>
                  <a:pt x="5886450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7829550" y="4286250"/>
            <a:ext cx="1971675" cy="857250"/>
          </a:xfrm>
          <a:custGeom>
            <a:avLst/>
            <a:gdLst/>
            <a:ahLst/>
            <a:cxnLst/>
            <a:rect r="r" b="b" t="t" l="l"/>
            <a:pathLst>
              <a:path h="857250" w="1971675">
                <a:moveTo>
                  <a:pt x="0" y="0"/>
                </a:moveTo>
                <a:lnTo>
                  <a:pt x="1971675" y="0"/>
                </a:lnTo>
                <a:lnTo>
                  <a:pt x="19716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1315700" y="2352675"/>
            <a:ext cx="4581525" cy="1504950"/>
          </a:xfrm>
          <a:custGeom>
            <a:avLst/>
            <a:gdLst/>
            <a:ahLst/>
            <a:cxnLst/>
            <a:rect r="r" b="b" t="t" l="l"/>
            <a:pathLst>
              <a:path h="1504950" w="4581525">
                <a:moveTo>
                  <a:pt x="0" y="0"/>
                </a:moveTo>
                <a:lnTo>
                  <a:pt x="4581525" y="0"/>
                </a:lnTo>
                <a:lnTo>
                  <a:pt x="4581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1315700" y="3209925"/>
            <a:ext cx="4800600" cy="2362200"/>
          </a:xfrm>
          <a:custGeom>
            <a:avLst/>
            <a:gdLst/>
            <a:ahLst/>
            <a:cxnLst/>
            <a:rect r="r" b="b" t="t" l="l"/>
            <a:pathLst>
              <a:path h="2362200" w="4800600">
                <a:moveTo>
                  <a:pt x="0" y="0"/>
                </a:moveTo>
                <a:lnTo>
                  <a:pt x="4800600" y="0"/>
                </a:lnTo>
                <a:lnTo>
                  <a:pt x="48006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9564624" y="393124"/>
            <a:ext cx="987552" cy="509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4"/>
              </a:lnSpc>
            </a:pPr>
            <a:r>
              <a:rPr lang="en-US" sz="1840" spc="-55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Towards Dhule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765792" y="1005789"/>
            <a:ext cx="530352" cy="230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0"/>
              </a:lnSpc>
            </a:pPr>
            <a:r>
              <a:rPr lang="en-US" b="true" sz="1628" spc="-48">
                <a:solidFill>
                  <a:srgbClr val="D9D9D9"/>
                </a:solidFill>
                <a:latin typeface="Inter Bold"/>
                <a:ea typeface="Inter Bold"/>
                <a:cs typeface="Inter Bold"/>
                <a:sym typeface="Inter Bold"/>
              </a:rPr>
              <a:t>NH-6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520672" y="1714225"/>
            <a:ext cx="256032" cy="34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b="true" sz="2443" spc="-73">
                <a:solidFill>
                  <a:srgbClr val="D9D9D9"/>
                </a:solidFill>
                <a:latin typeface="Inter Bold"/>
                <a:ea typeface="Inter Bold"/>
                <a:cs typeface="Inter Bold"/>
                <a:sym typeface="Inter Bold"/>
              </a:rPr>
              <a:t>H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100048" y="2162488"/>
            <a:ext cx="1060704" cy="509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840" spc="-55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Simulated Unit B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380976" y="1729360"/>
            <a:ext cx="822960" cy="479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6"/>
              </a:lnSpc>
            </a:pPr>
            <a:r>
              <a:rPr lang="en-US" sz="1769" spc="-53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Jammer Road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380976" y="2264787"/>
            <a:ext cx="822960" cy="314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3"/>
              </a:lnSpc>
            </a:pPr>
            <a:r>
              <a:rPr lang="en-US" sz="2230" spc="-66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Junclu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239744" y="3417502"/>
            <a:ext cx="1389888" cy="509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840" spc="-55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Towards Aurangabad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587216" y="3022266"/>
            <a:ext cx="640080" cy="229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1"/>
              </a:lnSpc>
            </a:pPr>
            <a:r>
              <a:rPr lang="en-US" b="true" sz="1592" spc="-47">
                <a:solidFill>
                  <a:srgbClr val="D9D9D9"/>
                </a:solidFill>
                <a:latin typeface="Inter Bold"/>
                <a:ea typeface="Inter Bold"/>
                <a:cs typeface="Inter Bold"/>
                <a:sym typeface="Inter Bold"/>
              </a:rPr>
              <a:t>NH-53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454896" y="4806247"/>
            <a:ext cx="822960" cy="509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840" spc="-55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Pratap Chowk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986016" y="5536624"/>
            <a:ext cx="1060704" cy="509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840" spc="-55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Simulated Unit 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008608" y="5948104"/>
            <a:ext cx="1060704" cy="509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840" spc="-55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Simulated Unit C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369296" y="9070797"/>
            <a:ext cx="896112" cy="230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0"/>
              </a:lnSpc>
            </a:pPr>
            <a:r>
              <a:rPr lang="en-US" b="true" sz="1628" spc="-48">
                <a:solidFill>
                  <a:srgbClr val="D9D9D9"/>
                </a:solidFill>
                <a:latin typeface="Inter Bold"/>
                <a:ea typeface="Inter Bold"/>
                <a:cs typeface="Inter Bold"/>
                <a:sym typeface="Inter Bold"/>
              </a:rPr>
              <a:t>NH-733F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380976" y="7505806"/>
            <a:ext cx="256032" cy="34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b="true" sz="2443" spc="-73">
                <a:solidFill>
                  <a:srgbClr val="D9D9D9"/>
                </a:solidFill>
                <a:latin typeface="Inter Bold"/>
                <a:ea typeface="Inter Bold"/>
                <a:cs typeface="Inter Bold"/>
                <a:sym typeface="Inter Bold"/>
              </a:rPr>
              <a:t>H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429232" y="5458693"/>
            <a:ext cx="256032" cy="34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b="true" sz="2443" spc="-73">
                <a:solidFill>
                  <a:srgbClr val="D9D9D9"/>
                </a:solidFill>
                <a:latin typeface="Inter Bold"/>
                <a:ea typeface="Inter Bold"/>
                <a:cs typeface="Inter Bold"/>
                <a:sym typeface="Inter Bold"/>
              </a:rPr>
              <a:t>H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424928" y="5057500"/>
            <a:ext cx="256032" cy="34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b="true" sz="2443" spc="-73">
                <a:solidFill>
                  <a:srgbClr val="D9D9D9"/>
                </a:solidFill>
                <a:latin typeface="Inter Bold"/>
                <a:ea typeface="Inter Bold"/>
                <a:cs typeface="Inter Bold"/>
                <a:sym typeface="Inter Bold"/>
              </a:rPr>
              <a:t>H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4831568" y="7157207"/>
            <a:ext cx="1883664" cy="261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4"/>
              </a:lnSpc>
            </a:pPr>
            <a:r>
              <a:rPr lang="en-US" sz="1840" spc="-55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Major city roads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264640" y="9326605"/>
            <a:ext cx="256032" cy="34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b="true" sz="2443" spc="-73">
                <a:solidFill>
                  <a:srgbClr val="D9D9D9"/>
                </a:solidFill>
                <a:latin typeface="Inter Bold"/>
                <a:ea typeface="Inter Bold"/>
                <a:cs typeface="Inter Bold"/>
                <a:sym typeface="Inter Bold"/>
              </a:rPr>
              <a:t>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3504" y="809729"/>
            <a:ext cx="2633472" cy="129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16"/>
              </a:lnSpc>
            </a:pPr>
            <a:r>
              <a:rPr lang="en-US" b="true" sz="9816" spc="-29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How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3504" y="1981131"/>
            <a:ext cx="7461504" cy="135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00"/>
              </a:lnSpc>
            </a:pPr>
            <a:r>
              <a:rPr lang="en-US" b="true" sz="10100" spc="-303">
                <a:solidFill>
                  <a:srgbClr val="E13F3A"/>
                </a:solidFill>
                <a:latin typeface="Inter Bold"/>
                <a:ea typeface="Inter Bold"/>
                <a:cs typeface="Inter Bold"/>
                <a:sym typeface="Inter Bold"/>
              </a:rPr>
              <a:t>ERRO Works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3504" y="3463600"/>
            <a:ext cx="6839712" cy="93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9"/>
              </a:lnSpc>
            </a:pPr>
            <a:r>
              <a:rPr lang="en-US" sz="2868" spc="-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From incident to hospital — intelligent routing that gets help there faster.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8625" y="4714875"/>
            <a:ext cx="1752600" cy="3000375"/>
          </a:xfrm>
          <a:custGeom>
            <a:avLst/>
            <a:gdLst/>
            <a:ahLst/>
            <a:cxnLst/>
            <a:rect r="r" b="b" t="t" l="l"/>
            <a:pathLst>
              <a:path h="3000375" w="1752600">
                <a:moveTo>
                  <a:pt x="0" y="0"/>
                </a:moveTo>
                <a:lnTo>
                  <a:pt x="1752600" y="0"/>
                </a:lnTo>
                <a:lnTo>
                  <a:pt x="175260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32688" y="5314058"/>
            <a:ext cx="694944" cy="659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0"/>
              </a:lnSpc>
            </a:pPr>
            <a:r>
              <a:rPr lang="en-US" b="true" sz="4960" spc="-148">
                <a:solidFill>
                  <a:srgbClr val="E13F3A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66775" y="6000750"/>
            <a:ext cx="876300" cy="219075"/>
          </a:xfrm>
          <a:custGeom>
            <a:avLst/>
            <a:gdLst/>
            <a:ahLst/>
            <a:cxnLst/>
            <a:rect r="r" b="b" t="t" l="l"/>
            <a:pathLst>
              <a:path h="219075" w="876300">
                <a:moveTo>
                  <a:pt x="0" y="0"/>
                </a:moveTo>
                <a:lnTo>
                  <a:pt x="876300" y="0"/>
                </a:lnTo>
                <a:lnTo>
                  <a:pt x="876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94944" y="6501384"/>
            <a:ext cx="113385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8"/>
              </a:lnSpc>
            </a:pPr>
            <a:r>
              <a:rPr lang="en-US" b="true" sz="169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ACCIDENT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390775" y="4714875"/>
            <a:ext cx="1752600" cy="3000375"/>
          </a:xfrm>
          <a:custGeom>
            <a:avLst/>
            <a:gdLst/>
            <a:ahLst/>
            <a:cxnLst/>
            <a:rect r="r" b="b" t="t" l="l"/>
            <a:pathLst>
              <a:path h="3000375" w="1752600">
                <a:moveTo>
                  <a:pt x="0" y="0"/>
                </a:moveTo>
                <a:lnTo>
                  <a:pt x="1752600" y="0"/>
                </a:lnTo>
                <a:lnTo>
                  <a:pt x="175260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871216" y="5345974"/>
            <a:ext cx="694944" cy="576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2"/>
              </a:lnSpc>
            </a:pPr>
            <a:r>
              <a:rPr lang="en-US" b="true" sz="4322" spc="-12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828925" y="6000750"/>
            <a:ext cx="876300" cy="219075"/>
          </a:xfrm>
          <a:custGeom>
            <a:avLst/>
            <a:gdLst/>
            <a:ahLst/>
            <a:cxnLst/>
            <a:rect r="r" b="b" t="t" l="l"/>
            <a:pathLst>
              <a:path h="219075" w="876300">
                <a:moveTo>
                  <a:pt x="0" y="0"/>
                </a:moveTo>
                <a:lnTo>
                  <a:pt x="876300" y="0"/>
                </a:lnTo>
                <a:lnTo>
                  <a:pt x="876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615184" y="6501384"/>
            <a:ext cx="126187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8"/>
              </a:lnSpc>
            </a:pPr>
            <a:r>
              <a:rPr lang="en-US" b="true" sz="169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DETECTION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352925" y="4714875"/>
            <a:ext cx="1743075" cy="3000375"/>
          </a:xfrm>
          <a:custGeom>
            <a:avLst/>
            <a:gdLst/>
            <a:ahLst/>
            <a:cxnLst/>
            <a:rect r="r" b="b" t="t" l="l"/>
            <a:pathLst>
              <a:path h="3000375" w="1743075">
                <a:moveTo>
                  <a:pt x="0" y="0"/>
                </a:moveTo>
                <a:lnTo>
                  <a:pt x="1743075" y="0"/>
                </a:lnTo>
                <a:lnTo>
                  <a:pt x="1743075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809744" y="5352087"/>
            <a:ext cx="694944" cy="56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5"/>
              </a:lnSpc>
            </a:pPr>
            <a:r>
              <a:rPr lang="en-US" b="true" sz="4215" spc="-126">
                <a:solidFill>
                  <a:srgbClr val="E13F3A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4781550" y="6000750"/>
            <a:ext cx="885825" cy="219075"/>
          </a:xfrm>
          <a:custGeom>
            <a:avLst/>
            <a:gdLst/>
            <a:ahLst/>
            <a:cxnLst/>
            <a:rect r="r" b="b" t="t" l="l"/>
            <a:pathLst>
              <a:path h="219075" w="885825">
                <a:moveTo>
                  <a:pt x="0" y="0"/>
                </a:moveTo>
                <a:lnTo>
                  <a:pt x="885825" y="0"/>
                </a:lnTo>
                <a:lnTo>
                  <a:pt x="885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498848" y="6555676"/>
            <a:ext cx="138988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8"/>
              </a:lnSpc>
            </a:pPr>
            <a:r>
              <a:rPr lang="en-US" b="true" sz="155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SEVERITY ASSESSMENT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305550" y="4714875"/>
            <a:ext cx="1752600" cy="3000375"/>
          </a:xfrm>
          <a:custGeom>
            <a:avLst/>
            <a:gdLst/>
            <a:ahLst/>
            <a:cxnLst/>
            <a:rect r="r" b="b" t="t" l="l"/>
            <a:pathLst>
              <a:path h="3000375" w="1752600">
                <a:moveTo>
                  <a:pt x="0" y="0"/>
                </a:moveTo>
                <a:lnTo>
                  <a:pt x="1752600" y="0"/>
                </a:lnTo>
                <a:lnTo>
                  <a:pt x="175260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748272" y="5343723"/>
            <a:ext cx="749808" cy="59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9"/>
              </a:lnSpc>
            </a:pPr>
            <a:r>
              <a:rPr lang="en-US" b="true" sz="4499" spc="-13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04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6743700" y="6000750"/>
            <a:ext cx="876300" cy="219075"/>
          </a:xfrm>
          <a:custGeom>
            <a:avLst/>
            <a:gdLst/>
            <a:ahLst/>
            <a:cxnLst/>
            <a:rect r="r" b="b" t="t" l="l"/>
            <a:pathLst>
              <a:path h="219075" w="876300">
                <a:moveTo>
                  <a:pt x="0" y="0"/>
                </a:moveTo>
                <a:lnTo>
                  <a:pt x="876300" y="0"/>
                </a:lnTo>
                <a:lnTo>
                  <a:pt x="876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528816" y="6533388"/>
            <a:ext cx="1261872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3"/>
              </a:lnSpc>
            </a:pPr>
            <a:r>
              <a:rPr lang="en-US" b="true" sz="17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FIND AVAILABLE UNITS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8267700" y="4714875"/>
            <a:ext cx="1752600" cy="3000375"/>
          </a:xfrm>
          <a:custGeom>
            <a:avLst/>
            <a:gdLst/>
            <a:ahLst/>
            <a:cxnLst/>
            <a:rect r="r" b="b" t="t" l="l"/>
            <a:pathLst>
              <a:path h="3000375" w="1752600">
                <a:moveTo>
                  <a:pt x="0" y="0"/>
                </a:moveTo>
                <a:lnTo>
                  <a:pt x="1752600" y="0"/>
                </a:lnTo>
                <a:lnTo>
                  <a:pt x="175260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723376" y="5332847"/>
            <a:ext cx="749808" cy="612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5"/>
              </a:lnSpc>
            </a:pPr>
            <a:r>
              <a:rPr lang="en-US" b="true" sz="4605" spc="-138">
                <a:solidFill>
                  <a:srgbClr val="E13F3A"/>
                </a:solidFill>
                <a:latin typeface="Inter Bold"/>
                <a:ea typeface="Inter Bold"/>
                <a:cs typeface="Inter Bold"/>
                <a:sym typeface="Inter Bold"/>
              </a:rPr>
              <a:t>05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8705850" y="6000750"/>
            <a:ext cx="876300" cy="219075"/>
          </a:xfrm>
          <a:custGeom>
            <a:avLst/>
            <a:gdLst/>
            <a:ahLst/>
            <a:cxnLst/>
            <a:rect r="r" b="b" t="t" l="l"/>
            <a:pathLst>
              <a:path h="219075" w="876300">
                <a:moveTo>
                  <a:pt x="0" y="0"/>
                </a:moveTo>
                <a:lnTo>
                  <a:pt x="876300" y="0"/>
                </a:lnTo>
                <a:lnTo>
                  <a:pt x="876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8558784" y="6517576"/>
            <a:ext cx="109728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b="true" sz="1805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ANALYZE TRAFFIC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0229850" y="4714875"/>
            <a:ext cx="1752600" cy="3000375"/>
          </a:xfrm>
          <a:custGeom>
            <a:avLst/>
            <a:gdLst/>
            <a:ahLst/>
            <a:cxnLst/>
            <a:rect r="r" b="b" t="t" l="l"/>
            <a:pathLst>
              <a:path h="3000375" w="1752600">
                <a:moveTo>
                  <a:pt x="0" y="0"/>
                </a:moveTo>
                <a:lnTo>
                  <a:pt x="1752600" y="0"/>
                </a:lnTo>
                <a:lnTo>
                  <a:pt x="175260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0716768" y="5347585"/>
            <a:ext cx="749808" cy="59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0"/>
              </a:lnSpc>
            </a:pPr>
            <a:r>
              <a:rPr lang="en-US" b="true" sz="4570" spc="-13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06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0668000" y="6000750"/>
            <a:ext cx="876300" cy="219075"/>
          </a:xfrm>
          <a:custGeom>
            <a:avLst/>
            <a:gdLst/>
            <a:ahLst/>
            <a:cxnLst/>
            <a:rect r="r" b="b" t="t" l="l"/>
            <a:pathLst>
              <a:path h="219075" w="876300">
                <a:moveTo>
                  <a:pt x="0" y="0"/>
                </a:moveTo>
                <a:lnTo>
                  <a:pt x="876300" y="0"/>
                </a:lnTo>
                <a:lnTo>
                  <a:pt x="876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0460736" y="6504813"/>
            <a:ext cx="120700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1"/>
              </a:lnSpc>
            </a:pPr>
            <a:r>
              <a:rPr lang="en-US" b="true" sz="187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DIJKSTRA / GRAPH ENGINE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2192000" y="4714875"/>
            <a:ext cx="1743075" cy="3000375"/>
          </a:xfrm>
          <a:custGeom>
            <a:avLst/>
            <a:gdLst/>
            <a:ahLst/>
            <a:cxnLst/>
            <a:rect r="r" b="b" t="t" l="l"/>
            <a:pathLst>
              <a:path h="3000375" w="1743075">
                <a:moveTo>
                  <a:pt x="0" y="0"/>
                </a:moveTo>
                <a:lnTo>
                  <a:pt x="1743075" y="0"/>
                </a:lnTo>
                <a:lnTo>
                  <a:pt x="1743075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2691872" y="5319721"/>
            <a:ext cx="749808" cy="648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9"/>
              </a:lnSpc>
            </a:pPr>
            <a:r>
              <a:rPr lang="en-US" b="true" sz="4889" spc="-146">
                <a:solidFill>
                  <a:srgbClr val="E13F3A"/>
                </a:solidFill>
                <a:latin typeface="Inter Bold"/>
                <a:ea typeface="Inter Bold"/>
                <a:cs typeface="Inter Bold"/>
                <a:sym typeface="Inter Bold"/>
              </a:rPr>
              <a:t>07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2620625" y="6000750"/>
            <a:ext cx="885825" cy="219075"/>
          </a:xfrm>
          <a:custGeom>
            <a:avLst/>
            <a:gdLst/>
            <a:ahLst/>
            <a:cxnLst/>
            <a:rect r="r" b="b" t="t" l="l"/>
            <a:pathLst>
              <a:path h="219075" w="885825">
                <a:moveTo>
                  <a:pt x="0" y="0"/>
                </a:moveTo>
                <a:lnTo>
                  <a:pt x="885825" y="0"/>
                </a:lnTo>
                <a:lnTo>
                  <a:pt x="885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2563856" y="6517576"/>
            <a:ext cx="102412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3"/>
              </a:lnSpc>
            </a:pPr>
            <a:r>
              <a:rPr lang="en-US" b="true" sz="17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FASTEST ROUTE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4144625" y="4714875"/>
            <a:ext cx="1752600" cy="3000375"/>
          </a:xfrm>
          <a:custGeom>
            <a:avLst/>
            <a:gdLst/>
            <a:ahLst/>
            <a:cxnLst/>
            <a:rect r="r" b="b" t="t" l="l"/>
            <a:pathLst>
              <a:path h="3000375" w="1752600">
                <a:moveTo>
                  <a:pt x="0" y="0"/>
                </a:moveTo>
                <a:lnTo>
                  <a:pt x="1752600" y="0"/>
                </a:lnTo>
                <a:lnTo>
                  <a:pt x="175260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4666976" y="5347585"/>
            <a:ext cx="749808" cy="59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0"/>
              </a:lnSpc>
            </a:pPr>
            <a:r>
              <a:rPr lang="en-US" b="true" sz="4570" spc="-13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08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4582775" y="6000750"/>
            <a:ext cx="876300" cy="219075"/>
          </a:xfrm>
          <a:custGeom>
            <a:avLst/>
            <a:gdLst/>
            <a:ahLst/>
            <a:cxnLst/>
            <a:rect r="r" b="b" t="t" l="l"/>
            <a:pathLst>
              <a:path h="219075" w="876300">
                <a:moveTo>
                  <a:pt x="0" y="0"/>
                </a:moveTo>
                <a:lnTo>
                  <a:pt x="876300" y="0"/>
                </a:lnTo>
                <a:lnTo>
                  <a:pt x="876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4465808" y="6496621"/>
            <a:ext cx="113385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3"/>
              </a:lnSpc>
            </a:pPr>
            <a:r>
              <a:rPr lang="en-US" b="true" sz="17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DISPATCH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6106775" y="4714875"/>
            <a:ext cx="1752600" cy="3000375"/>
          </a:xfrm>
          <a:custGeom>
            <a:avLst/>
            <a:gdLst/>
            <a:ahLst/>
            <a:cxnLst/>
            <a:rect r="r" b="b" t="t" l="l"/>
            <a:pathLst>
              <a:path h="3000375" w="1752600">
                <a:moveTo>
                  <a:pt x="0" y="0"/>
                </a:moveTo>
                <a:lnTo>
                  <a:pt x="1752600" y="0"/>
                </a:lnTo>
                <a:lnTo>
                  <a:pt x="175260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6623792" y="5347585"/>
            <a:ext cx="749808" cy="59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0"/>
              </a:lnSpc>
            </a:pPr>
            <a:r>
              <a:rPr lang="en-US" b="true" sz="4570" spc="-137">
                <a:solidFill>
                  <a:srgbClr val="E13F3A"/>
                </a:solidFill>
                <a:latin typeface="Inter Bold"/>
                <a:ea typeface="Inter Bold"/>
                <a:cs typeface="Inter Bold"/>
                <a:sym typeface="Inter Bold"/>
              </a:rPr>
              <a:t>09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6544925" y="6000750"/>
            <a:ext cx="876300" cy="219075"/>
          </a:xfrm>
          <a:custGeom>
            <a:avLst/>
            <a:gdLst/>
            <a:ahLst/>
            <a:cxnLst/>
            <a:rect r="r" b="b" t="t" l="l"/>
            <a:pathLst>
              <a:path h="219075" w="876300">
                <a:moveTo>
                  <a:pt x="0" y="0"/>
                </a:moveTo>
                <a:lnTo>
                  <a:pt x="876300" y="0"/>
                </a:lnTo>
                <a:lnTo>
                  <a:pt x="876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6459200" y="6501384"/>
            <a:ext cx="109728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8"/>
              </a:lnSpc>
            </a:pPr>
            <a:r>
              <a:rPr lang="en-US" b="true" sz="169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HOSPITAL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952625" y="6000750"/>
            <a:ext cx="666750" cy="428625"/>
          </a:xfrm>
          <a:custGeom>
            <a:avLst/>
            <a:gdLst/>
            <a:ahLst/>
            <a:cxnLst/>
            <a:rect r="r" b="b" t="t" l="l"/>
            <a:pathLst>
              <a:path h="428625" w="666750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3914775" y="6000750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5876925" y="6000750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7829550" y="6000750"/>
            <a:ext cx="666750" cy="428625"/>
          </a:xfrm>
          <a:custGeom>
            <a:avLst/>
            <a:gdLst/>
            <a:ahLst/>
            <a:cxnLst/>
            <a:rect r="r" b="b" t="t" l="l"/>
            <a:pathLst>
              <a:path h="428625" w="666750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9791700" y="6000750"/>
            <a:ext cx="666750" cy="428625"/>
          </a:xfrm>
          <a:custGeom>
            <a:avLst/>
            <a:gdLst/>
            <a:ahLst/>
            <a:cxnLst/>
            <a:rect r="r" b="b" t="t" l="l"/>
            <a:pathLst>
              <a:path h="428625" w="666750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1753850" y="6000750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3716000" y="6000750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5668625" y="6000750"/>
            <a:ext cx="666750" cy="428625"/>
          </a:xfrm>
          <a:custGeom>
            <a:avLst/>
            <a:gdLst/>
            <a:ahLst/>
            <a:cxnLst/>
            <a:rect r="r" b="b" t="t" l="l"/>
            <a:pathLst>
              <a:path h="428625" w="666750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085850" y="7286625"/>
            <a:ext cx="16116300" cy="1076325"/>
          </a:xfrm>
          <a:custGeom>
            <a:avLst/>
            <a:gdLst/>
            <a:ahLst/>
            <a:cxnLst/>
            <a:rect r="r" b="b" t="t" l="l"/>
            <a:pathLst>
              <a:path h="1076325" w="16116300">
                <a:moveTo>
                  <a:pt x="0" y="0"/>
                </a:moveTo>
                <a:lnTo>
                  <a:pt x="16116300" y="0"/>
                </a:lnTo>
                <a:lnTo>
                  <a:pt x="16116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3504" y="834267"/>
            <a:ext cx="9162288" cy="117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9"/>
              </a:lnSpc>
            </a:pPr>
            <a:r>
              <a:rPr lang="en-US" sz="8859" spc="-35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Technology </a:t>
            </a:r>
            <a:r>
              <a:rPr lang="en-US" sz="8859" spc="-354" b="true">
                <a:solidFill>
                  <a:srgbClr val="E63126"/>
                </a:solidFill>
                <a:latin typeface="Inter Bold"/>
                <a:ea typeface="Inter Bold"/>
                <a:cs typeface="Inter Bold"/>
                <a:sym typeface="Inter Bold"/>
              </a:rPr>
              <a:t>Stack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962775" y="3209925"/>
            <a:ext cx="3705225" cy="438150"/>
          </a:xfrm>
          <a:custGeom>
            <a:avLst/>
            <a:gdLst/>
            <a:ahLst/>
            <a:cxnLst/>
            <a:rect r="r" b="b" t="t" l="l"/>
            <a:pathLst>
              <a:path h="438150" w="3705225">
                <a:moveTo>
                  <a:pt x="0" y="0"/>
                </a:moveTo>
                <a:lnTo>
                  <a:pt x="3705225" y="0"/>
                </a:lnTo>
                <a:lnTo>
                  <a:pt x="3705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173968" y="2576078"/>
            <a:ext cx="5614416" cy="1299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sz="2691">
                <a:solidFill>
                  <a:srgbClr val="E63126"/>
                </a:solidFill>
                <a:latin typeface="Inter"/>
                <a:ea typeface="Inter"/>
                <a:cs typeface="Inter"/>
                <a:sym typeface="Inter"/>
              </a:rPr>
              <a:t>HTML5, CSS3, </a:t>
            </a:r>
            <a:r>
              <a:rPr lang="en-US" sz="269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and </a:t>
            </a:r>
            <a:r>
              <a:rPr lang="en-US" sz="2691">
                <a:solidFill>
                  <a:srgbClr val="E63126"/>
                </a:solidFill>
                <a:latin typeface="Inter"/>
                <a:ea typeface="Inter"/>
                <a:cs typeface="Inter"/>
                <a:sym typeface="Inter"/>
              </a:rPr>
              <a:t>JavaScript</a:t>
            </a:r>
            <a:r>
              <a:rPr lang="en-US" sz="269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power the dashboard, maps, simulations, animations, and alerts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962775" y="4714875"/>
            <a:ext cx="3705225" cy="428625"/>
          </a:xfrm>
          <a:custGeom>
            <a:avLst/>
            <a:gdLst/>
            <a:ahLst/>
            <a:cxnLst/>
            <a:rect r="r" b="b" t="t" l="l"/>
            <a:pathLst>
              <a:path h="428625" w="3705225">
                <a:moveTo>
                  <a:pt x="0" y="0"/>
                </a:moveTo>
                <a:lnTo>
                  <a:pt x="3705225" y="0"/>
                </a:lnTo>
                <a:lnTo>
                  <a:pt x="3705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173968" y="4469475"/>
            <a:ext cx="5797296" cy="1215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514">
                <a:solidFill>
                  <a:srgbClr val="E63126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251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language handles graph processing, Dijkstra algorithm, route optimization, and traffic-weight calculations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962775" y="6429375"/>
            <a:ext cx="3705225" cy="428625"/>
          </a:xfrm>
          <a:custGeom>
            <a:avLst/>
            <a:gdLst/>
            <a:ahLst/>
            <a:cxnLst/>
            <a:rect r="r" b="b" t="t" l="l"/>
            <a:pathLst>
              <a:path h="428625" w="3705225">
                <a:moveTo>
                  <a:pt x="0" y="0"/>
                </a:moveTo>
                <a:lnTo>
                  <a:pt x="3705225" y="0"/>
                </a:lnTo>
                <a:lnTo>
                  <a:pt x="3705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173968" y="6074593"/>
            <a:ext cx="4974336" cy="140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9"/>
              </a:lnSpc>
            </a:pPr>
            <a:r>
              <a:rPr lang="en-US" sz="2868">
                <a:solidFill>
                  <a:srgbClr val="E63126"/>
                </a:solidFill>
                <a:latin typeface="Inter"/>
                <a:ea typeface="Inter"/>
                <a:cs typeface="Inter"/>
                <a:sym typeface="Inter"/>
              </a:rPr>
              <a:t>WebAssembly</a:t>
            </a:r>
            <a:r>
              <a:rPr lang="en-US" sz="28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connects the JavaScript frontend with the C routing engine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962775" y="8143875"/>
            <a:ext cx="3705225" cy="428625"/>
          </a:xfrm>
          <a:custGeom>
            <a:avLst/>
            <a:gdLst/>
            <a:ahLst/>
            <a:cxnLst/>
            <a:rect r="r" b="b" t="t" l="l"/>
            <a:pathLst>
              <a:path h="428625" w="3705225">
                <a:moveTo>
                  <a:pt x="0" y="0"/>
                </a:moveTo>
                <a:lnTo>
                  <a:pt x="3705225" y="0"/>
                </a:lnTo>
                <a:lnTo>
                  <a:pt x="3705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173968" y="7837047"/>
            <a:ext cx="5504688" cy="128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62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Jalgaon road network, simulated ambulances and hospitals, traffic conditions, and accident scenarios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66775" y="2352675"/>
            <a:ext cx="7410450" cy="7296150"/>
          </a:xfrm>
          <a:custGeom>
            <a:avLst/>
            <a:gdLst/>
            <a:ahLst/>
            <a:cxnLst/>
            <a:rect r="r" b="b" t="t" l="l"/>
            <a:pathLst>
              <a:path h="7296150" w="7410450">
                <a:moveTo>
                  <a:pt x="0" y="0"/>
                </a:moveTo>
                <a:lnTo>
                  <a:pt x="7410450" y="0"/>
                </a:lnTo>
                <a:lnTo>
                  <a:pt x="7410450" y="7296150"/>
                </a:lnTo>
                <a:lnTo>
                  <a:pt x="0" y="72961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858768" y="3505059"/>
            <a:ext cx="1975104" cy="450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7"/>
              </a:lnSpc>
            </a:pPr>
            <a:r>
              <a:rPr lang="en-US" b="true" sz="279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FRONTEND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03904" y="5125868"/>
            <a:ext cx="2450592" cy="45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3"/>
              </a:lnSpc>
            </a:pPr>
            <a:r>
              <a:rPr lang="en-US" b="true" sz="283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CORE ENGINE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803904" y="6601446"/>
            <a:ext cx="2450592" cy="450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7"/>
              </a:lnSpc>
            </a:pPr>
            <a:r>
              <a:rPr lang="en-US" b="true" sz="279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INTEGRATION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94176" y="8093061"/>
            <a:ext cx="2779776" cy="450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7"/>
              </a:lnSpc>
            </a:pPr>
            <a:r>
              <a:rPr lang="en-US" b="true" sz="279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DATA SOURCES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3504" y="714027"/>
            <a:ext cx="7808976" cy="1201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72"/>
              </a:lnSpc>
            </a:pPr>
            <a:r>
              <a:rPr lang="en-US" sz="9072" spc="-18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</a:t>
            </a:r>
            <a:r>
              <a:rPr lang="en-US" sz="9072" spc="-181" b="true">
                <a:solidFill>
                  <a:srgbClr val="D43E3E"/>
                </a:solidFill>
                <a:latin typeface="Inter Bold"/>
                <a:ea typeface="Inter Bold"/>
                <a:cs typeface="Inter Bold"/>
                <a:sym typeface="Inter Bold"/>
              </a:rPr>
              <a:t>Algorithm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8625" y="2143125"/>
            <a:ext cx="3933825" cy="6219825"/>
          </a:xfrm>
          <a:custGeom>
            <a:avLst/>
            <a:gdLst/>
            <a:ahLst/>
            <a:cxnLst/>
            <a:rect r="r" b="b" t="t" l="l"/>
            <a:pathLst>
              <a:path h="6219825" w="3933825">
                <a:moveTo>
                  <a:pt x="0" y="0"/>
                </a:moveTo>
                <a:lnTo>
                  <a:pt x="3933825" y="0"/>
                </a:lnTo>
                <a:lnTo>
                  <a:pt x="3933825" y="6219825"/>
                </a:lnTo>
                <a:lnTo>
                  <a:pt x="0" y="6219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22960" y="2742057"/>
            <a:ext cx="2596896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b="true" sz="3045" spc="-6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TRADITIONAL APPROACH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7700" y="3857625"/>
            <a:ext cx="1314450" cy="219075"/>
          </a:xfrm>
          <a:custGeom>
            <a:avLst/>
            <a:gdLst/>
            <a:ahLst/>
            <a:cxnLst/>
            <a:rect r="r" b="b" t="t" l="l"/>
            <a:pathLst>
              <a:path h="219075" w="1314450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22960" y="4463415"/>
            <a:ext cx="2761488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3045" spc="-6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Nearest ambulance</a:t>
            </a:r>
          </a:p>
          <a:p>
            <a:pPr algn="l">
              <a:lnSpc>
                <a:spcPts val="3655"/>
              </a:lnSpc>
            </a:pPr>
          </a:p>
          <a:p>
            <a:pPr algn="l">
              <a:lnSpc>
                <a:spcPts val="3655"/>
              </a:lnSpc>
            </a:pPr>
            <a:r>
              <a:rPr lang="en-US" sz="3045" spc="-6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Shortest route</a:t>
            </a:r>
          </a:p>
          <a:p>
            <a:pPr algn="l">
              <a:lnSpc>
                <a:spcPts val="3655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352925" y="2143125"/>
            <a:ext cx="4791075" cy="6219825"/>
          </a:xfrm>
          <a:custGeom>
            <a:avLst/>
            <a:gdLst/>
            <a:ahLst/>
            <a:cxnLst/>
            <a:rect r="r" b="b" t="t" l="l"/>
            <a:pathLst>
              <a:path h="6219825" w="4791075">
                <a:moveTo>
                  <a:pt x="0" y="0"/>
                </a:moveTo>
                <a:lnTo>
                  <a:pt x="4791075" y="0"/>
                </a:lnTo>
                <a:lnTo>
                  <a:pt x="4791075" y="6219825"/>
                </a:lnTo>
                <a:lnTo>
                  <a:pt x="0" y="6219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919472" y="2728912"/>
            <a:ext cx="327355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b="true" sz="3045" spc="-6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ERRO APPROACH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781550" y="3429000"/>
            <a:ext cx="1314450" cy="219075"/>
          </a:xfrm>
          <a:custGeom>
            <a:avLst/>
            <a:gdLst/>
            <a:ahLst/>
            <a:cxnLst/>
            <a:rect r="r" b="b" t="t" l="l"/>
            <a:pathLst>
              <a:path h="219075" w="1314450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919472" y="7370826"/>
            <a:ext cx="371246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spc="-48" b="true">
                <a:solidFill>
                  <a:srgbClr val="D43E3E"/>
                </a:solidFill>
                <a:latin typeface="Inter Bold"/>
                <a:ea typeface="Inter Bold"/>
                <a:cs typeface="Inter Bold"/>
                <a:sym typeface="Inter Bold"/>
              </a:rPr>
              <a:t>Fastest emergency route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28625" y="8572500"/>
            <a:ext cx="228600" cy="1504950"/>
          </a:xfrm>
          <a:custGeom>
            <a:avLst/>
            <a:gdLst/>
            <a:ahLst/>
            <a:cxnLst/>
            <a:rect r="r" b="b" t="t" l="l"/>
            <a:pathLst>
              <a:path h="1504950" w="228600">
                <a:moveTo>
                  <a:pt x="0" y="0"/>
                </a:moveTo>
                <a:lnTo>
                  <a:pt x="228600" y="0"/>
                </a:lnTo>
                <a:lnTo>
                  <a:pt x="228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28625" y="8572500"/>
            <a:ext cx="17649825" cy="1504950"/>
          </a:xfrm>
          <a:custGeom>
            <a:avLst/>
            <a:gdLst/>
            <a:ahLst/>
            <a:cxnLst/>
            <a:rect r="r" b="b" t="t" l="l"/>
            <a:pathLst>
              <a:path h="1504950" w="17649825">
                <a:moveTo>
                  <a:pt x="0" y="0"/>
                </a:moveTo>
                <a:lnTo>
                  <a:pt x="17649825" y="0"/>
                </a:lnTo>
                <a:lnTo>
                  <a:pt x="176498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4128" y="9042123"/>
            <a:ext cx="14703552" cy="508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6"/>
              </a:lnSpc>
            </a:pPr>
            <a:r>
              <a:rPr lang="en-US" sz="3896" spc="-7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We optimize for </a:t>
            </a:r>
            <a:r>
              <a:rPr lang="en-US" sz="3896" spc="-77" b="true">
                <a:solidFill>
                  <a:srgbClr val="D43E3E"/>
                </a:solidFill>
                <a:latin typeface="Inter Bold"/>
                <a:ea typeface="Inter Bold"/>
                <a:cs typeface="Inter Bold"/>
                <a:sym typeface="Inter Bold"/>
              </a:rPr>
              <a:t>response time</a:t>
            </a:r>
            <a:r>
              <a:rPr lang="en-US" sz="3896" spc="-7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, not just geographical distance.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572625" y="2352675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448925" y="2781300"/>
            <a:ext cx="3267075" cy="219075"/>
          </a:xfrm>
          <a:custGeom>
            <a:avLst/>
            <a:gdLst/>
            <a:ahLst/>
            <a:cxnLst/>
            <a:rect r="r" b="b" t="t" l="l"/>
            <a:pathLst>
              <a:path h="219075" w="3267075">
                <a:moveTo>
                  <a:pt x="0" y="0"/>
                </a:moveTo>
                <a:lnTo>
                  <a:pt x="3267075" y="0"/>
                </a:lnTo>
                <a:lnTo>
                  <a:pt x="32670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496925" y="2352675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401550" y="3209925"/>
            <a:ext cx="1752600" cy="1724025"/>
          </a:xfrm>
          <a:custGeom>
            <a:avLst/>
            <a:gdLst/>
            <a:ahLst/>
            <a:cxnLst/>
            <a:rect r="r" b="b" t="t" l="l"/>
            <a:pathLst>
              <a:path h="1724025" w="1752600">
                <a:moveTo>
                  <a:pt x="0" y="0"/>
                </a:moveTo>
                <a:lnTo>
                  <a:pt x="1752600" y="0"/>
                </a:lnTo>
                <a:lnTo>
                  <a:pt x="17526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753850" y="4714875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010775" y="3209925"/>
            <a:ext cx="1971675" cy="1933575"/>
          </a:xfrm>
          <a:custGeom>
            <a:avLst/>
            <a:gdLst/>
            <a:ahLst/>
            <a:cxnLst/>
            <a:rect r="r" b="b" t="t" l="l"/>
            <a:pathLst>
              <a:path h="1933575" w="1971675">
                <a:moveTo>
                  <a:pt x="0" y="0"/>
                </a:moveTo>
                <a:lnTo>
                  <a:pt x="1971675" y="0"/>
                </a:lnTo>
                <a:lnTo>
                  <a:pt x="19716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448925" y="5143500"/>
            <a:ext cx="1533525" cy="1714500"/>
          </a:xfrm>
          <a:custGeom>
            <a:avLst/>
            <a:gdLst/>
            <a:ahLst/>
            <a:cxnLst/>
            <a:rect r="r" b="b" t="t" l="l"/>
            <a:pathLst>
              <a:path h="1714500" w="1533525">
                <a:moveTo>
                  <a:pt x="0" y="0"/>
                </a:moveTo>
                <a:lnTo>
                  <a:pt x="1533525" y="0"/>
                </a:lnTo>
                <a:lnTo>
                  <a:pt x="15335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572625" y="6638925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448925" y="7067550"/>
            <a:ext cx="4143375" cy="219075"/>
          </a:xfrm>
          <a:custGeom>
            <a:avLst/>
            <a:gdLst/>
            <a:ahLst/>
            <a:cxnLst/>
            <a:rect r="r" b="b" t="t" l="l"/>
            <a:pathLst>
              <a:path h="219075" w="4143375">
                <a:moveTo>
                  <a:pt x="0" y="0"/>
                </a:moveTo>
                <a:lnTo>
                  <a:pt x="4143375" y="0"/>
                </a:lnTo>
                <a:lnTo>
                  <a:pt x="4143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363700" y="6638925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620625" y="5353050"/>
            <a:ext cx="1971675" cy="1933575"/>
          </a:xfrm>
          <a:custGeom>
            <a:avLst/>
            <a:gdLst/>
            <a:ahLst/>
            <a:cxnLst/>
            <a:rect r="r" b="b" t="t" l="l"/>
            <a:pathLst>
              <a:path h="1933575" w="1971675">
                <a:moveTo>
                  <a:pt x="0" y="0"/>
                </a:moveTo>
                <a:lnTo>
                  <a:pt x="1971675" y="0"/>
                </a:lnTo>
                <a:lnTo>
                  <a:pt x="19716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4801850" y="4067175"/>
            <a:ext cx="1095375" cy="219075"/>
          </a:xfrm>
          <a:custGeom>
            <a:avLst/>
            <a:gdLst/>
            <a:ahLst/>
            <a:cxnLst/>
            <a:rect r="r" b="b" t="t" l="l"/>
            <a:pathLst>
              <a:path h="219075" w="1095375">
                <a:moveTo>
                  <a:pt x="0" y="0"/>
                </a:moveTo>
                <a:lnTo>
                  <a:pt x="1095375" y="0"/>
                </a:lnTo>
                <a:lnTo>
                  <a:pt x="109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6020288" y="4031276"/>
            <a:ext cx="1170432" cy="588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8"/>
              </a:lnSpc>
            </a:pPr>
            <a:r>
              <a:rPr lang="en-US" b="true" sz="2053" spc="-41">
                <a:solidFill>
                  <a:srgbClr val="D43E3E"/>
                </a:solidFill>
                <a:latin typeface="Inter Bold"/>
                <a:ea typeface="Inter Bold"/>
                <a:cs typeface="Inter Bold"/>
                <a:sym typeface="Inter Bold"/>
              </a:rPr>
              <a:t>FASTEST ROUTE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4801850" y="5143500"/>
            <a:ext cx="1095375" cy="219075"/>
          </a:xfrm>
          <a:custGeom>
            <a:avLst/>
            <a:gdLst/>
            <a:ahLst/>
            <a:cxnLst/>
            <a:rect r="r" b="b" t="t" l="l"/>
            <a:pathLst>
              <a:path h="219075" w="1095375">
                <a:moveTo>
                  <a:pt x="0" y="0"/>
                </a:moveTo>
                <a:lnTo>
                  <a:pt x="1095375" y="0"/>
                </a:lnTo>
                <a:lnTo>
                  <a:pt x="109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6020288" y="5100050"/>
            <a:ext cx="1719072" cy="55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0"/>
              </a:lnSpc>
            </a:pPr>
            <a:r>
              <a:rPr lang="en-US" b="true" sz="1982" spc="-3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ALTERNATIVE PATHS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919472" y="3852672"/>
            <a:ext cx="305409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spc="-4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Available ambulances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919472" y="4545902"/>
            <a:ext cx="210312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 spc="-4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Traffic analysis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919472" y="5220843"/>
            <a:ext cx="226771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spc="-4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Road conditions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919472" y="5924360"/>
            <a:ext cx="296265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 spc="-4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Estimated travel time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919472" y="6649974"/>
            <a:ext cx="252374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78" spc="-4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Dijkstra algorithm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143232" y="2376106"/>
            <a:ext cx="18288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9"/>
              </a:lnSpc>
            </a:pPr>
            <a:r>
              <a:rPr lang="en-US" b="true" sz="2549" spc="-50">
                <a:solidFill>
                  <a:srgbClr val="D43E3E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912096" y="2604516"/>
            <a:ext cx="310896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5"/>
              </a:lnSpc>
            </a:pPr>
            <a:r>
              <a:rPr lang="en-US" b="true" sz="3613" spc="-7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917168" y="2604516"/>
            <a:ext cx="310896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5"/>
              </a:lnSpc>
            </a:pPr>
            <a:r>
              <a:rPr lang="en-US" b="true" sz="3613" spc="-7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405104" y="4114610"/>
            <a:ext cx="18288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9"/>
              </a:lnSpc>
            </a:pPr>
            <a:r>
              <a:rPr lang="en-US" b="true" sz="2549" spc="-50">
                <a:solidFill>
                  <a:srgbClr val="D43E3E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789920" y="4299776"/>
            <a:ext cx="18288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9"/>
              </a:lnSpc>
            </a:pPr>
            <a:r>
              <a:rPr lang="en-US" sz="2549" spc="-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161520" y="4877943"/>
            <a:ext cx="310896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5"/>
              </a:lnSpc>
            </a:pPr>
            <a:r>
              <a:rPr lang="en-US" b="true" sz="3613" spc="-7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807440" y="5935408"/>
            <a:ext cx="18288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9"/>
              </a:lnSpc>
            </a:pPr>
            <a:r>
              <a:rPr lang="en-US" b="true" sz="2549" spc="-50">
                <a:solidFill>
                  <a:srgbClr val="D43E3E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100816" y="6295454"/>
            <a:ext cx="18288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9"/>
              </a:lnSpc>
            </a:pPr>
            <a:r>
              <a:rPr lang="en-US" sz="2549" spc="-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234672" y="7416736"/>
            <a:ext cx="18288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9"/>
              </a:lnSpc>
            </a:pPr>
            <a:r>
              <a:rPr lang="en-US" sz="2549" spc="-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234672" y="6966204"/>
            <a:ext cx="310896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5"/>
              </a:lnSpc>
            </a:pPr>
            <a:r>
              <a:rPr lang="en-US" b="true" sz="3613" spc="-7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666976" y="6966204"/>
            <a:ext cx="310896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5"/>
              </a:lnSpc>
            </a:pPr>
            <a:r>
              <a:rPr lang="en-US" b="true" sz="3613" spc="-7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6656" y="2160842"/>
            <a:ext cx="879652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656" spc="-5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Powering faster, smarter emergency response in Jalgaon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7700" y="2781300"/>
            <a:ext cx="5667375" cy="3438525"/>
          </a:xfrm>
          <a:custGeom>
            <a:avLst/>
            <a:gdLst/>
            <a:ahLst/>
            <a:cxnLst/>
            <a:rect r="r" b="b" t="t" l="l"/>
            <a:pathLst>
              <a:path h="3438525" w="5667375">
                <a:moveTo>
                  <a:pt x="0" y="0"/>
                </a:moveTo>
                <a:lnTo>
                  <a:pt x="5667375" y="0"/>
                </a:lnTo>
                <a:lnTo>
                  <a:pt x="5667375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5840" y="3337243"/>
            <a:ext cx="969264" cy="927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09"/>
              </a:lnSpc>
            </a:pPr>
            <a:r>
              <a:rPr lang="en-US" b="true" sz="6909" spc="-207">
                <a:solidFill>
                  <a:srgbClr val="C7282C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171700" y="3209925"/>
            <a:ext cx="228600" cy="2581275"/>
          </a:xfrm>
          <a:custGeom>
            <a:avLst/>
            <a:gdLst/>
            <a:ahLst/>
            <a:cxnLst/>
            <a:rect r="r" b="b" t="t" l="l"/>
            <a:pathLst>
              <a:path h="2581275" w="228600">
                <a:moveTo>
                  <a:pt x="0" y="0"/>
                </a:moveTo>
                <a:lnTo>
                  <a:pt x="228600" y="0"/>
                </a:lnTo>
                <a:lnTo>
                  <a:pt x="22860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70048" y="3274885"/>
            <a:ext cx="2029968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5"/>
              </a:lnSpc>
            </a:pPr>
            <a:r>
              <a:rPr lang="en-US" sz="3187" spc="-63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Accident Simulation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70048" y="4580572"/>
            <a:ext cx="2615184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159" spc="-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Create incidents instantly when every second counts.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305550" y="2781300"/>
            <a:ext cx="5676900" cy="3438525"/>
          </a:xfrm>
          <a:custGeom>
            <a:avLst/>
            <a:gdLst/>
            <a:ahLst/>
            <a:cxnLst/>
            <a:rect r="r" b="b" t="t" l="l"/>
            <a:pathLst>
              <a:path h="3438525" w="5676900">
                <a:moveTo>
                  <a:pt x="0" y="0"/>
                </a:moveTo>
                <a:lnTo>
                  <a:pt x="5676900" y="0"/>
                </a:lnTo>
                <a:lnTo>
                  <a:pt x="5676900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748272" y="3395673"/>
            <a:ext cx="969264" cy="80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59"/>
              </a:lnSpc>
            </a:pPr>
            <a:r>
              <a:rPr lang="en-US" b="true" sz="6059" spc="-181">
                <a:solidFill>
                  <a:srgbClr val="C7282C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829550" y="3209925"/>
            <a:ext cx="228600" cy="2581275"/>
          </a:xfrm>
          <a:custGeom>
            <a:avLst/>
            <a:gdLst/>
            <a:ahLst/>
            <a:cxnLst/>
            <a:rect r="r" b="b" t="t" l="l"/>
            <a:pathLst>
              <a:path h="2581275" w="228600">
                <a:moveTo>
                  <a:pt x="0" y="0"/>
                </a:moveTo>
                <a:lnTo>
                  <a:pt x="228600" y="0"/>
                </a:lnTo>
                <a:lnTo>
                  <a:pt x="22860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412480" y="3338013"/>
            <a:ext cx="2249424" cy="1355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4"/>
              </a:lnSpc>
            </a:pPr>
            <a:r>
              <a:rPr lang="en-US" sz="3258" spc="-65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Smart Ambulance Selection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12480" y="4954905"/>
            <a:ext cx="2523744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 spc="-4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Choose the best available ambulance in seconds.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1972925" y="2781300"/>
            <a:ext cx="5667375" cy="3438525"/>
          </a:xfrm>
          <a:custGeom>
            <a:avLst/>
            <a:gdLst/>
            <a:ahLst/>
            <a:cxnLst/>
            <a:rect r="r" b="b" t="t" l="l"/>
            <a:pathLst>
              <a:path h="3438525" w="5667375">
                <a:moveTo>
                  <a:pt x="0" y="0"/>
                </a:moveTo>
                <a:lnTo>
                  <a:pt x="5667375" y="0"/>
                </a:lnTo>
                <a:lnTo>
                  <a:pt x="5667375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362688" y="3406999"/>
            <a:ext cx="969264" cy="778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b="true" sz="5917" spc="-177">
                <a:solidFill>
                  <a:srgbClr val="C7282C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3496925" y="3209925"/>
            <a:ext cx="219075" cy="2581275"/>
          </a:xfrm>
          <a:custGeom>
            <a:avLst/>
            <a:gdLst/>
            <a:ahLst/>
            <a:cxnLst/>
            <a:rect r="r" b="b" t="t" l="l"/>
            <a:pathLst>
              <a:path h="2581275" w="219075">
                <a:moveTo>
                  <a:pt x="0" y="0"/>
                </a:moveTo>
                <a:lnTo>
                  <a:pt x="219075" y="0"/>
                </a:lnTo>
                <a:lnTo>
                  <a:pt x="21907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4026896" y="3337369"/>
            <a:ext cx="1755648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0"/>
              </a:lnSpc>
            </a:pPr>
            <a:r>
              <a:rPr lang="en-US" sz="3258" spc="-65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Jalgaon Live Map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026896" y="4682490"/>
            <a:ext cx="285292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337" spc="-4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See roads, vehicles, incidents and hospitals in real time.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47700" y="6429375"/>
            <a:ext cx="5667375" cy="3429000"/>
          </a:xfrm>
          <a:custGeom>
            <a:avLst/>
            <a:gdLst/>
            <a:ahLst/>
            <a:cxnLst/>
            <a:rect r="r" b="b" t="t" l="l"/>
            <a:pathLst>
              <a:path h="3429000" w="5667375">
                <a:moveTo>
                  <a:pt x="0" y="0"/>
                </a:moveTo>
                <a:lnTo>
                  <a:pt x="5667375" y="0"/>
                </a:lnTo>
                <a:lnTo>
                  <a:pt x="5667375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05840" y="6951840"/>
            <a:ext cx="969264" cy="7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1"/>
              </a:lnSpc>
            </a:pPr>
            <a:r>
              <a:rPr lang="en-US" b="true" sz="5811" spc="-174">
                <a:solidFill>
                  <a:srgbClr val="C7282C"/>
                </a:solidFill>
                <a:latin typeface="Inter Bold"/>
                <a:ea typeface="Inter Bold"/>
                <a:cs typeface="Inter Bold"/>
                <a:sym typeface="Inter Bold"/>
              </a:rPr>
              <a:t>04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2171700" y="6638925"/>
            <a:ext cx="228600" cy="2790825"/>
          </a:xfrm>
          <a:custGeom>
            <a:avLst/>
            <a:gdLst/>
            <a:ahLst/>
            <a:cxnLst/>
            <a:rect r="r" b="b" t="t" l="l"/>
            <a:pathLst>
              <a:path h="2790825" w="228600">
                <a:moveTo>
                  <a:pt x="0" y="0"/>
                </a:moveTo>
                <a:lnTo>
                  <a:pt x="228600" y="0"/>
                </a:lnTo>
                <a:lnTo>
                  <a:pt x="22860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670048" y="6813613"/>
            <a:ext cx="1755648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</a:pPr>
            <a:r>
              <a:rPr lang="en-US" sz="3329" spc="-66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Dynamic Traffic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670048" y="8132635"/>
            <a:ext cx="252374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9"/>
              </a:lnSpc>
            </a:pPr>
            <a:r>
              <a:rPr lang="en-US" sz="2266" spc="-4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Traffic changes trigger instant route recalculation.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6305550" y="6429375"/>
            <a:ext cx="5676900" cy="3429000"/>
          </a:xfrm>
          <a:custGeom>
            <a:avLst/>
            <a:gdLst/>
            <a:ahLst/>
            <a:cxnLst/>
            <a:rect r="r" b="b" t="t" l="l"/>
            <a:pathLst>
              <a:path h="3429000" w="5676900">
                <a:moveTo>
                  <a:pt x="0" y="0"/>
                </a:moveTo>
                <a:lnTo>
                  <a:pt x="5676900" y="0"/>
                </a:lnTo>
                <a:lnTo>
                  <a:pt x="56769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6748272" y="6949589"/>
            <a:ext cx="969264" cy="780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88"/>
              </a:lnSpc>
            </a:pPr>
            <a:r>
              <a:rPr lang="en-US" b="true" sz="5988" spc="-179">
                <a:solidFill>
                  <a:srgbClr val="C7282C"/>
                </a:solidFill>
                <a:latin typeface="Inter Bold"/>
                <a:ea typeface="Inter Bold"/>
                <a:cs typeface="Inter Bold"/>
                <a:sym typeface="Inter Bold"/>
              </a:rPr>
              <a:t>05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7829550" y="6638925"/>
            <a:ext cx="228600" cy="2790825"/>
          </a:xfrm>
          <a:custGeom>
            <a:avLst/>
            <a:gdLst/>
            <a:ahLst/>
            <a:cxnLst/>
            <a:rect r="r" b="b" t="t" l="l"/>
            <a:pathLst>
              <a:path h="2790825" w="228600">
                <a:moveTo>
                  <a:pt x="0" y="0"/>
                </a:moveTo>
                <a:lnTo>
                  <a:pt x="228600" y="0"/>
                </a:lnTo>
                <a:lnTo>
                  <a:pt x="22860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8412480" y="6823138"/>
            <a:ext cx="1938528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7"/>
              </a:lnSpc>
            </a:pPr>
            <a:r>
              <a:rPr lang="en-US" sz="3223" spc="-6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Intelligent Routing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412480" y="8118348"/>
            <a:ext cx="292608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6"/>
              </a:lnSpc>
            </a:pPr>
            <a:r>
              <a:rPr lang="en-US" sz="2372" spc="-4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C-based Dijkstra engine computes the optimal route.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1972925" y="6429375"/>
            <a:ext cx="5667375" cy="3429000"/>
          </a:xfrm>
          <a:custGeom>
            <a:avLst/>
            <a:gdLst/>
            <a:ahLst/>
            <a:cxnLst/>
            <a:rect r="r" b="b" t="t" l="l"/>
            <a:pathLst>
              <a:path h="3429000" w="5667375">
                <a:moveTo>
                  <a:pt x="0" y="0"/>
                </a:moveTo>
                <a:lnTo>
                  <a:pt x="5667375" y="0"/>
                </a:lnTo>
                <a:lnTo>
                  <a:pt x="5667375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2362688" y="6945727"/>
            <a:ext cx="969264" cy="778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b="true" sz="5917" spc="-177">
                <a:solidFill>
                  <a:srgbClr val="C7282C"/>
                </a:solidFill>
                <a:latin typeface="Inter Bold"/>
                <a:ea typeface="Inter Bold"/>
                <a:cs typeface="Inter Bold"/>
                <a:sym typeface="Inter Bold"/>
              </a:rPr>
              <a:t>06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3496925" y="6638925"/>
            <a:ext cx="219075" cy="2790825"/>
          </a:xfrm>
          <a:custGeom>
            <a:avLst/>
            <a:gdLst/>
            <a:ahLst/>
            <a:cxnLst/>
            <a:rect r="r" b="b" t="t" l="l"/>
            <a:pathLst>
              <a:path h="2790825" w="219075">
                <a:moveTo>
                  <a:pt x="0" y="0"/>
                </a:moveTo>
                <a:lnTo>
                  <a:pt x="219075" y="0"/>
                </a:lnTo>
                <a:lnTo>
                  <a:pt x="21907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4026896" y="6813613"/>
            <a:ext cx="1810512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5"/>
              </a:lnSpc>
            </a:pPr>
            <a:r>
              <a:rPr lang="en-US" sz="3187" spc="-63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Hospital Selection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026896" y="8185023"/>
            <a:ext cx="2798064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 spc="-4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Finds the right hospital based on distance and availability.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21792" y="710375"/>
            <a:ext cx="8522208" cy="1341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4"/>
              </a:lnSpc>
            </a:pPr>
            <a:r>
              <a:rPr lang="en-US" sz="10064" spc="-20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Main </a:t>
            </a:r>
            <a:r>
              <a:rPr lang="en-US" sz="10064" spc="-201" b="true">
                <a:solidFill>
                  <a:srgbClr val="C7282C"/>
                </a:solidFill>
                <a:latin typeface="Inter Bold"/>
                <a:ea typeface="Inter Bold"/>
                <a:cs typeface="Inter Bold"/>
                <a:sym typeface="Inter Bold"/>
              </a:rPr>
              <a:t>Features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8625" y="5781675"/>
            <a:ext cx="14811375" cy="2152650"/>
          </a:xfrm>
          <a:custGeom>
            <a:avLst/>
            <a:gdLst/>
            <a:ahLst/>
            <a:cxnLst/>
            <a:rect r="r" b="b" t="t" l="l"/>
            <a:pathLst>
              <a:path h="2152650" w="14811375">
                <a:moveTo>
                  <a:pt x="0" y="0"/>
                </a:moveTo>
                <a:lnTo>
                  <a:pt x="14811375" y="0"/>
                </a:lnTo>
                <a:lnTo>
                  <a:pt x="14811375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05550" y="8353425"/>
            <a:ext cx="228600" cy="1295400"/>
          </a:xfrm>
          <a:custGeom>
            <a:avLst/>
            <a:gdLst/>
            <a:ahLst/>
            <a:cxnLst/>
            <a:rect r="r" b="b" t="t" l="l"/>
            <a:pathLst>
              <a:path h="1295400" w="228600">
                <a:moveTo>
                  <a:pt x="0" y="0"/>
                </a:moveTo>
                <a:lnTo>
                  <a:pt x="228600" y="0"/>
                </a:lnTo>
                <a:lnTo>
                  <a:pt x="228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52625" y="3857625"/>
            <a:ext cx="447675" cy="1504950"/>
          </a:xfrm>
          <a:custGeom>
            <a:avLst/>
            <a:gdLst/>
            <a:ahLst/>
            <a:cxnLst/>
            <a:rect r="r" b="b" t="t" l="l"/>
            <a:pathLst>
              <a:path h="1504950" w="447675">
                <a:moveTo>
                  <a:pt x="0" y="0"/>
                </a:moveTo>
                <a:lnTo>
                  <a:pt x="447675" y="0"/>
                </a:lnTo>
                <a:lnTo>
                  <a:pt x="447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133850" y="3857625"/>
            <a:ext cx="228600" cy="1504950"/>
          </a:xfrm>
          <a:custGeom>
            <a:avLst/>
            <a:gdLst/>
            <a:ahLst/>
            <a:cxnLst/>
            <a:rect r="r" b="b" t="t" l="l"/>
            <a:pathLst>
              <a:path h="1504950" w="228600">
                <a:moveTo>
                  <a:pt x="0" y="0"/>
                </a:moveTo>
                <a:lnTo>
                  <a:pt x="228600" y="0"/>
                </a:lnTo>
                <a:lnTo>
                  <a:pt x="228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524625" y="3857625"/>
            <a:ext cx="228600" cy="1504950"/>
          </a:xfrm>
          <a:custGeom>
            <a:avLst/>
            <a:gdLst/>
            <a:ahLst/>
            <a:cxnLst/>
            <a:rect r="r" b="b" t="t" l="l"/>
            <a:pathLst>
              <a:path h="1504950" w="228600">
                <a:moveTo>
                  <a:pt x="0" y="0"/>
                </a:moveTo>
                <a:lnTo>
                  <a:pt x="228600" y="0"/>
                </a:lnTo>
                <a:lnTo>
                  <a:pt x="228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010775" y="3857625"/>
            <a:ext cx="228600" cy="1504950"/>
          </a:xfrm>
          <a:custGeom>
            <a:avLst/>
            <a:gdLst/>
            <a:ahLst/>
            <a:cxnLst/>
            <a:rect r="r" b="b" t="t" l="l"/>
            <a:pathLst>
              <a:path h="1504950" w="228600">
                <a:moveTo>
                  <a:pt x="0" y="0"/>
                </a:moveTo>
                <a:lnTo>
                  <a:pt x="228600" y="0"/>
                </a:lnTo>
                <a:lnTo>
                  <a:pt x="228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28625" y="6858000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171700" y="6858000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133850" y="6858000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096000" y="6858000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829550" y="6858000"/>
            <a:ext cx="1104900" cy="857250"/>
          </a:xfrm>
          <a:custGeom>
            <a:avLst/>
            <a:gdLst/>
            <a:ahLst/>
            <a:cxnLst/>
            <a:rect r="r" b="b" t="t" l="l"/>
            <a:pathLst>
              <a:path h="857250" w="1104900">
                <a:moveTo>
                  <a:pt x="0" y="0"/>
                </a:moveTo>
                <a:lnTo>
                  <a:pt x="1104900" y="0"/>
                </a:lnTo>
                <a:lnTo>
                  <a:pt x="11049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791700" y="6858000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534775" y="6858000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496925" y="6858000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24000" y="6429375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476625" y="6429375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219700" y="6429375"/>
            <a:ext cx="666750" cy="428625"/>
          </a:xfrm>
          <a:custGeom>
            <a:avLst/>
            <a:gdLst/>
            <a:ahLst/>
            <a:cxnLst/>
            <a:rect r="r" b="b" t="t" l="l"/>
            <a:pathLst>
              <a:path h="428625" w="666750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181850" y="6429375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144000" y="6429375"/>
            <a:ext cx="438150" cy="428625"/>
          </a:xfrm>
          <a:custGeom>
            <a:avLst/>
            <a:gdLst/>
            <a:ahLst/>
            <a:cxnLst/>
            <a:rect r="r" b="b" t="t" l="l"/>
            <a:pathLst>
              <a:path h="428625" w="438150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877550" y="6429375"/>
            <a:ext cx="666750" cy="428625"/>
          </a:xfrm>
          <a:custGeom>
            <a:avLst/>
            <a:gdLst/>
            <a:ahLst/>
            <a:cxnLst/>
            <a:rect r="r" b="b" t="t" l="l"/>
            <a:pathLst>
              <a:path h="428625" w="666750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620625" y="6429375"/>
            <a:ext cx="666750" cy="428625"/>
          </a:xfrm>
          <a:custGeom>
            <a:avLst/>
            <a:gdLst/>
            <a:ahLst/>
            <a:cxnLst/>
            <a:rect r="r" b="b" t="t" l="l"/>
            <a:pathLst>
              <a:path h="428625" w="666750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096625" y="428625"/>
            <a:ext cx="1971675" cy="1933575"/>
          </a:xfrm>
          <a:custGeom>
            <a:avLst/>
            <a:gdLst/>
            <a:ahLst/>
            <a:cxnLst/>
            <a:rect r="r" b="b" t="t" l="l"/>
            <a:pathLst>
              <a:path h="1933575" w="1971675">
                <a:moveTo>
                  <a:pt x="0" y="0"/>
                </a:moveTo>
                <a:lnTo>
                  <a:pt x="1971675" y="0"/>
                </a:lnTo>
                <a:lnTo>
                  <a:pt x="19716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6106775" y="5781675"/>
            <a:ext cx="1752600" cy="2581275"/>
          </a:xfrm>
          <a:custGeom>
            <a:avLst/>
            <a:gdLst/>
            <a:ahLst/>
            <a:cxnLst/>
            <a:rect r="r" b="b" t="t" l="l"/>
            <a:pathLst>
              <a:path h="2581275" w="1752600">
                <a:moveTo>
                  <a:pt x="0" y="0"/>
                </a:moveTo>
                <a:lnTo>
                  <a:pt x="1752600" y="0"/>
                </a:lnTo>
                <a:lnTo>
                  <a:pt x="175260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566928" y="459087"/>
            <a:ext cx="5230368" cy="1699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2"/>
              </a:lnSpc>
            </a:pPr>
            <a:r>
              <a:rPr lang="en-US" sz="9958" spc="-199" b="true">
                <a:solidFill>
                  <a:srgbClr val="E6E6E6"/>
                </a:solidFill>
                <a:latin typeface="Inter Bold"/>
                <a:ea typeface="Inter Bold"/>
                <a:cs typeface="Inter Bold"/>
                <a:sym typeface="Inter Bold"/>
              </a:rPr>
              <a:t>Impact &amp;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66928" y="1768879"/>
            <a:ext cx="7498080" cy="1598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97"/>
              </a:lnSpc>
            </a:pPr>
            <a:r>
              <a:rPr lang="en-US" sz="9426" spc="-188" b="true">
                <a:solidFill>
                  <a:srgbClr val="D12626"/>
                </a:solidFill>
                <a:latin typeface="Inter Bold"/>
                <a:ea typeface="Inter Bold"/>
                <a:cs typeface="Inter Bold"/>
                <a:sym typeface="Inter Bold"/>
              </a:rPr>
              <a:t>Future Scope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03504" y="4467430"/>
            <a:ext cx="1225296" cy="790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2"/>
              </a:lnSpc>
            </a:pPr>
            <a:r>
              <a:rPr lang="en-US" sz="2266" spc="-45">
                <a:solidFill>
                  <a:srgbClr val="E6E6E6"/>
                </a:solidFill>
                <a:latin typeface="Inter"/>
                <a:ea typeface="Inter"/>
                <a:cs typeface="Inter"/>
                <a:sym typeface="Inter"/>
              </a:rPr>
              <a:t>response times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487168" y="3961808"/>
            <a:ext cx="1115568" cy="423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2443" spc="-48">
                <a:solidFill>
                  <a:srgbClr val="D12626"/>
                </a:solidFill>
                <a:latin typeface="Inter"/>
                <a:ea typeface="Inter"/>
                <a:cs typeface="Inter"/>
                <a:sym typeface="Inter"/>
              </a:rPr>
              <a:t>smarter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487168" y="4495104"/>
            <a:ext cx="1225296" cy="744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195" spc="-43">
                <a:solidFill>
                  <a:srgbClr val="E6E6E6"/>
                </a:solidFill>
                <a:latin typeface="Inter"/>
                <a:ea typeface="Inter"/>
                <a:cs typeface="Inter"/>
                <a:sym typeface="Inter"/>
              </a:rPr>
              <a:t>resource allocation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462272" y="3965670"/>
            <a:ext cx="1792224" cy="415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1"/>
              </a:lnSpc>
            </a:pPr>
            <a:r>
              <a:rPr lang="en-US" sz="2372" spc="-47">
                <a:solidFill>
                  <a:srgbClr val="D12626"/>
                </a:solidFill>
                <a:latin typeface="Inter"/>
                <a:ea typeface="Inter"/>
                <a:cs typeface="Inter"/>
                <a:sym typeface="Inter"/>
              </a:rPr>
              <a:t>traffic-aware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462272" y="4440205"/>
            <a:ext cx="1938528" cy="835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1"/>
              </a:lnSpc>
            </a:pPr>
            <a:r>
              <a:rPr lang="en-US" sz="2372" spc="-47">
                <a:solidFill>
                  <a:srgbClr val="E6E6E6"/>
                </a:solidFill>
                <a:latin typeface="Inter"/>
                <a:ea typeface="Inter"/>
                <a:cs typeface="Inter"/>
                <a:sym typeface="Inter"/>
              </a:rPr>
              <a:t> routing in real conditions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040880" y="4458805"/>
            <a:ext cx="2670048" cy="80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1"/>
              </a:lnSpc>
            </a:pPr>
            <a:r>
              <a:rPr lang="en-US" sz="2337" spc="-46">
                <a:solidFill>
                  <a:srgbClr val="E6E6E6"/>
                </a:solidFill>
                <a:latin typeface="Inter"/>
                <a:ea typeface="Inter"/>
                <a:cs typeface="Inter"/>
                <a:sym typeface="Inter"/>
              </a:rPr>
              <a:t>coordination from accident to hospital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332720" y="3967020"/>
            <a:ext cx="1188720" cy="422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0"/>
              </a:lnSpc>
            </a:pPr>
            <a:r>
              <a:rPr lang="en-US" sz="2478" spc="-49">
                <a:solidFill>
                  <a:srgbClr val="D12626"/>
                </a:solidFill>
                <a:latin typeface="Inter"/>
                <a:ea typeface="Inter"/>
                <a:cs typeface="Inter"/>
                <a:sym typeface="Inter"/>
              </a:rPr>
              <a:t>scalable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332720" y="4440205"/>
            <a:ext cx="1792224" cy="835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1"/>
              </a:lnSpc>
            </a:pPr>
            <a:r>
              <a:rPr lang="en-US" sz="2372" spc="-47">
                <a:solidFill>
                  <a:srgbClr val="E6E6E6"/>
                </a:solidFill>
                <a:latin typeface="Inter"/>
                <a:ea typeface="Inter"/>
                <a:cs typeface="Inter"/>
                <a:sym typeface="Inter"/>
              </a:rPr>
              <a:t>from Jalgaon to any city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13232" y="6423744"/>
            <a:ext cx="841248" cy="32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6"/>
              </a:lnSpc>
            </a:pPr>
            <a:r>
              <a:rPr lang="en-US" sz="1911" spc="-38">
                <a:solidFill>
                  <a:srgbClr val="E6E6E6"/>
                </a:solidFill>
                <a:latin typeface="Inter"/>
                <a:ea typeface="Inter"/>
                <a:cs typeface="Inter"/>
                <a:sym typeface="Inter"/>
              </a:rPr>
              <a:t>Current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322576" y="6283831"/>
            <a:ext cx="1024128" cy="612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1769" spc="-35">
                <a:solidFill>
                  <a:srgbClr val="E6E6E6"/>
                </a:solidFill>
                <a:latin typeface="Inter"/>
                <a:ea typeface="Inter"/>
                <a:cs typeface="Inter"/>
                <a:sym typeface="Inter"/>
              </a:rPr>
              <a:t>Jalgaon Prototype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151376" y="6238457"/>
            <a:ext cx="1078992" cy="683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1947" spc="-38">
                <a:solidFill>
                  <a:srgbClr val="E6E6E6"/>
                </a:solidFill>
                <a:latin typeface="Inter"/>
                <a:ea typeface="Inter"/>
                <a:cs typeface="Inter"/>
                <a:sym typeface="Inter"/>
              </a:rPr>
              <a:t>Real-time GPS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559552" y="6244138"/>
            <a:ext cx="1645920" cy="90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8"/>
              </a:lnSpc>
            </a:pPr>
            <a:r>
              <a:rPr lang="en-US" sz="1734" spc="-34">
                <a:solidFill>
                  <a:srgbClr val="E6E6E6"/>
                </a:solidFill>
                <a:latin typeface="Inter"/>
                <a:ea typeface="Inter"/>
                <a:cs typeface="Inter"/>
                <a:sym typeface="Inter"/>
              </a:rPr>
              <a:t>Real-time Traffic</a:t>
            </a:r>
          </a:p>
          <a:p>
            <a:pPr algn="l">
              <a:lnSpc>
                <a:spcPts val="2428"/>
              </a:lnSpc>
            </a:pPr>
            <a:r>
              <a:rPr lang="en-US" sz="1734" spc="-34">
                <a:solidFill>
                  <a:srgbClr val="E6E6E6"/>
                </a:solidFill>
                <a:latin typeface="Inter"/>
                <a:ea typeface="Inter"/>
                <a:cs typeface="Inter"/>
                <a:sym typeface="Inter"/>
              </a:rPr>
              <a:t>In APIs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784080" y="6244138"/>
            <a:ext cx="1024128" cy="90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8"/>
              </a:lnSpc>
            </a:pPr>
            <a:r>
              <a:rPr lang="en-US" sz="1734" spc="-34">
                <a:solidFill>
                  <a:srgbClr val="E6E6E6"/>
                </a:solidFill>
                <a:latin typeface="Inter"/>
                <a:ea typeface="Inter"/>
                <a:cs typeface="Inter"/>
                <a:sym typeface="Inter"/>
              </a:rPr>
              <a:t>Accident Detection AI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587984" y="6244138"/>
            <a:ext cx="1225296" cy="90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8"/>
              </a:lnSpc>
            </a:pPr>
            <a:r>
              <a:rPr lang="en-US" sz="1734" spc="-34">
                <a:solidFill>
                  <a:srgbClr val="E6E6E6"/>
                </a:solidFill>
                <a:latin typeface="Inter"/>
                <a:ea typeface="Inter"/>
                <a:cs typeface="Inter"/>
                <a:sym typeface="Inter"/>
              </a:rPr>
              <a:t>Multi-city Emergency Network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03504" y="8252557"/>
            <a:ext cx="3291840" cy="680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4"/>
              </a:lnSpc>
            </a:pPr>
            <a:r>
              <a:rPr lang="en-US" sz="3967" spc="-79" b="true">
                <a:solidFill>
                  <a:srgbClr val="E6E6E6"/>
                </a:solidFill>
                <a:latin typeface="Inter Bold"/>
                <a:ea typeface="Inter Bold"/>
                <a:cs typeface="Inter Bold"/>
                <a:sym typeface="Inter Bold"/>
              </a:rPr>
              <a:t>Every Second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03504" y="8942999"/>
            <a:ext cx="5376672" cy="688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4"/>
              </a:lnSpc>
            </a:pPr>
            <a:r>
              <a:rPr lang="en-US" sz="4003" spc="-80" b="true">
                <a:solidFill>
                  <a:srgbClr val="D12626"/>
                </a:solidFill>
                <a:latin typeface="Inter Bold"/>
                <a:ea typeface="Inter Bold"/>
                <a:cs typeface="Inter Bold"/>
                <a:sym typeface="Inter Bold"/>
              </a:rPr>
              <a:t>Saved Can Save a Life.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004304" y="8234858"/>
            <a:ext cx="2596896" cy="7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3"/>
              </a:lnSpc>
            </a:pPr>
            <a:r>
              <a:rPr lang="en-US" sz="4074" spc="-81" b="true">
                <a:solidFill>
                  <a:srgbClr val="E6E6E6"/>
                </a:solidFill>
                <a:latin typeface="Inter Bold"/>
                <a:ea typeface="Inter Bold"/>
                <a:cs typeface="Inter Bold"/>
                <a:sym typeface="Inter Bold"/>
              </a:rPr>
              <a:t>Make Your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004304" y="8940037"/>
            <a:ext cx="5596128" cy="704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2"/>
              </a:lnSpc>
            </a:pPr>
            <a:r>
              <a:rPr lang="en-US" sz="4144" spc="-82" b="true">
                <a:solidFill>
                  <a:srgbClr val="D12626"/>
                </a:solidFill>
                <a:latin typeface="Inter Bold"/>
                <a:ea typeface="Inter Bold"/>
                <a:cs typeface="Inter Bold"/>
                <a:sym typeface="Inter Bold"/>
              </a:rPr>
              <a:t>Jalgaon Map the Hero.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776704" y="3393511"/>
            <a:ext cx="1572768" cy="438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8"/>
              </a:lnSpc>
            </a:pPr>
            <a:r>
              <a:rPr lang="en-US" b="true" sz="2620" spc="-52">
                <a:solidFill>
                  <a:srgbClr val="E6E6E6"/>
                </a:solidFill>
                <a:latin typeface="Inter Bold"/>
                <a:ea typeface="Inter Bold"/>
                <a:cs typeface="Inter Bold"/>
                <a:sym typeface="Inter Bold"/>
              </a:rPr>
              <a:t>JALGAON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03504" y="3961808"/>
            <a:ext cx="822960" cy="423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2443" spc="-48">
                <a:solidFill>
                  <a:srgbClr val="D12626"/>
                </a:solidFill>
                <a:latin typeface="Inter"/>
                <a:ea typeface="Inter"/>
                <a:cs typeface="Inter"/>
                <a:sym typeface="Inter"/>
              </a:rPr>
              <a:t>faster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040880" y="3961808"/>
            <a:ext cx="1316736" cy="423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2443" spc="-48">
                <a:solidFill>
                  <a:srgbClr val="D12626"/>
                </a:solidFill>
                <a:latin typeface="Inter"/>
                <a:ea typeface="Inter"/>
                <a:cs typeface="Inter"/>
                <a:sym typeface="Inter"/>
              </a:rPr>
              <a:t>seamless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083296" y="6267050"/>
            <a:ext cx="841248" cy="87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663" spc="-33">
                <a:solidFill>
                  <a:srgbClr val="E6E6E6"/>
                </a:solidFill>
                <a:latin typeface="Inter"/>
                <a:ea typeface="Inter"/>
                <a:cs typeface="Inter"/>
                <a:sym typeface="Inter"/>
              </a:rPr>
              <a:t>IoT / Vehicle Tracking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649456" y="6283831"/>
            <a:ext cx="841248" cy="612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1769" spc="-35">
                <a:solidFill>
                  <a:srgbClr val="E6E6E6"/>
                </a:solidFill>
                <a:latin typeface="Inter"/>
                <a:ea typeface="Inter"/>
                <a:cs typeface="Inter"/>
                <a:sym typeface="Inter"/>
              </a:rPr>
              <a:t>Hospital APIs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6514064" y="7539433"/>
            <a:ext cx="896112" cy="323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sz="1876" spc="-37">
                <a:solidFill>
                  <a:srgbClr val="E6E6E6"/>
                </a:solidFill>
                <a:latin typeface="Inter"/>
                <a:ea typeface="Inter"/>
                <a:cs typeface="Inter"/>
                <a:sym typeface="Inter"/>
              </a:rPr>
              <a:t>Hospital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179808" y="929205"/>
            <a:ext cx="950976" cy="31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7"/>
              </a:lnSpc>
            </a:pPr>
            <a:r>
              <a:rPr lang="en-US" sz="1840" spc="-36">
                <a:solidFill>
                  <a:srgbClr val="E6E6E6"/>
                </a:solidFill>
                <a:latin typeface="Inter"/>
                <a:ea typeface="Inter"/>
                <a:cs typeface="Inter"/>
                <a:sym typeface="Inter"/>
              </a:rPr>
              <a:t>Accident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DAHSnY2ai0M</dc:identifier>
  <dcterms:modified xsi:type="dcterms:W3CDTF">2011-08-01T06:04:30Z</dcterms:modified>
  <cp:revision>1</cp:revision>
  <dc:title>Aayush Patil Rohit Koli Sakshi Garud</dc:title>
</cp:coreProperties>
</file>